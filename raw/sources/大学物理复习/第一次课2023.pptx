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75" r:id="rId4"/>
  </p:sldMasterIdLst>
  <p:handoutMasterIdLst>
    <p:handoutMasterId r:id="rId24"/>
  </p:handoutMasterIdLst>
  <p:sldIdLst>
    <p:sldId id="274" r:id="rId5"/>
    <p:sldId id="276" r:id="rId6"/>
    <p:sldId id="275" r:id="rId7"/>
    <p:sldId id="258" r:id="rId8"/>
    <p:sldId id="259" r:id="rId9"/>
    <p:sldId id="260" r:id="rId10"/>
    <p:sldId id="261" r:id="rId11"/>
    <p:sldId id="268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7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8ED"/>
    <a:srgbClr val="EBF1DE"/>
    <a:srgbClr val="F6F9F0"/>
    <a:srgbClr val="0E6B4F"/>
    <a:srgbClr val="003F2A"/>
    <a:srgbClr val="58A2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-749" y="-67"/>
      </p:cViewPr>
      <p:guideLst>
        <p:guide orient="horz" pos="2207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4" Type="http://schemas.openxmlformats.org/officeDocument/2006/relationships/image" Target="../media/image18.wmf"/><Relationship Id="rId13" Type="http://schemas.openxmlformats.org/officeDocument/2006/relationships/image" Target="../media/image17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5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.wmf"/><Relationship Id="rId8" Type="http://schemas.openxmlformats.org/officeDocument/2006/relationships/image" Target="../media/image33.wmf"/><Relationship Id="rId7" Type="http://schemas.openxmlformats.org/officeDocument/2006/relationships/image" Target="../media/image32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0" Type="http://schemas.openxmlformats.org/officeDocument/2006/relationships/image" Target="../media/image35.wmf"/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image" Target="../media/image52.wmf"/><Relationship Id="rId7" Type="http://schemas.openxmlformats.org/officeDocument/2006/relationships/image" Target="../media/image51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1" Type="http://schemas.openxmlformats.org/officeDocument/2006/relationships/image" Target="../media/image65.wmf"/><Relationship Id="rId20" Type="http://schemas.openxmlformats.org/officeDocument/2006/relationships/image" Target="../media/image64.wmf"/><Relationship Id="rId2" Type="http://schemas.openxmlformats.org/officeDocument/2006/relationships/image" Target="../media/image46.wmf"/><Relationship Id="rId19" Type="http://schemas.openxmlformats.org/officeDocument/2006/relationships/image" Target="../media/image63.wmf"/><Relationship Id="rId18" Type="http://schemas.openxmlformats.org/officeDocument/2006/relationships/image" Target="../media/image62.wmf"/><Relationship Id="rId17" Type="http://schemas.openxmlformats.org/officeDocument/2006/relationships/image" Target="../media/image61.wmf"/><Relationship Id="rId16" Type="http://schemas.openxmlformats.org/officeDocument/2006/relationships/image" Target="../media/image60.wmf"/><Relationship Id="rId15" Type="http://schemas.openxmlformats.org/officeDocument/2006/relationships/image" Target="../media/image59.wmf"/><Relationship Id="rId14" Type="http://schemas.openxmlformats.org/officeDocument/2006/relationships/image" Target="../media/image58.wmf"/><Relationship Id="rId13" Type="http://schemas.openxmlformats.org/officeDocument/2006/relationships/image" Target="../media/image57.wmf"/><Relationship Id="rId12" Type="http://schemas.openxmlformats.org/officeDocument/2006/relationships/image" Target="../media/image56.wmf"/><Relationship Id="rId11" Type="http://schemas.openxmlformats.org/officeDocument/2006/relationships/image" Target="../media/image55.wmf"/><Relationship Id="rId10" Type="http://schemas.openxmlformats.org/officeDocument/2006/relationships/image" Target="../media/image54.wmf"/><Relationship Id="rId1" Type="http://schemas.openxmlformats.org/officeDocument/2006/relationships/image" Target="../media/image45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5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wmf"/><Relationship Id="rId8" Type="http://schemas.openxmlformats.org/officeDocument/2006/relationships/image" Target="../media/image99.wmf"/><Relationship Id="rId7" Type="http://schemas.openxmlformats.org/officeDocument/2006/relationships/image" Target="../media/image98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0" Type="http://schemas.openxmlformats.org/officeDocument/2006/relationships/image" Target="../media/image101.wmf"/><Relationship Id="rId1" Type="http://schemas.openxmlformats.org/officeDocument/2006/relationships/image" Target="../media/image92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993411-991B-4388-A7ED-DAD1265C23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1"/>
          <p:cNvSpPr>
            <a:spLocks noChangeArrowheads="1"/>
          </p:cNvSpPr>
          <p:nvPr/>
        </p:nvSpPr>
        <p:spPr bwMode="auto">
          <a:xfrm>
            <a:off x="8208963" y="433388"/>
            <a:ext cx="3838575" cy="446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§5- 4  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简谐振动的合成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bg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1"/>
          <p:cNvSpPr>
            <a:spLocks noChangeArrowheads="1"/>
          </p:cNvSpPr>
          <p:nvPr/>
        </p:nvSpPr>
        <p:spPr bwMode="auto">
          <a:xfrm>
            <a:off x="6959600" y="433388"/>
            <a:ext cx="5087938" cy="446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§5- 5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阻尼振动 受迫振动 共振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1"/>
          <p:cNvSpPr>
            <a:spLocks noChangeArrowheads="1"/>
          </p:cNvSpPr>
          <p:nvPr/>
        </p:nvSpPr>
        <p:spPr bwMode="auto">
          <a:xfrm>
            <a:off x="10415588" y="433388"/>
            <a:ext cx="1631950" cy="446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本章小结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2C3BE4-059B-4765-80E7-8B182F635DE0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7"/>
          <p:cNvSpPr txBox="1">
            <a:spLocks noChangeArrowheads="1"/>
          </p:cNvSpPr>
          <p:nvPr/>
        </p:nvSpPr>
        <p:spPr bwMode="auto">
          <a:xfrm>
            <a:off x="8878888" y="260350"/>
            <a:ext cx="2049463" cy="554038"/>
          </a:xfrm>
          <a:prstGeom prst="rect">
            <a:avLst/>
          </a:prstGeom>
          <a:noFill/>
          <a:ln>
            <a:noFill/>
          </a:ln>
        </p:spPr>
        <p:txBody>
          <a:bodyPr wrap="none" lIns="121917" tIns="60958" rIns="121917" bIns="60958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矢量的运算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735888" y="6307138"/>
            <a:ext cx="962025" cy="3857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章目录</a:t>
            </a: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848850" y="6307138"/>
            <a:ext cx="960438" cy="3857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上一页</a:t>
            </a: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04538" y="6307138"/>
            <a:ext cx="962025" cy="3857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下一页</a:t>
            </a: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793163" y="6307138"/>
            <a:ext cx="960438" cy="3857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节目录</a:t>
            </a: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hyperlink" Target="0-0-&#24635;&#30446;&#24405;.pptx" TargetMode="Externa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-14287" y="-39687"/>
            <a:ext cx="12218988" cy="1174750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90500" y="1028700"/>
            <a:ext cx="11809413" cy="0"/>
          </a:xfrm>
          <a:prstGeom prst="line">
            <a:avLst/>
          </a:prstGeom>
          <a:ln w="31750">
            <a:solidFill>
              <a:schemeClr val="bg1">
                <a:alpha val="2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TextBox 11"/>
          <p:cNvSpPr txBox="1">
            <a:spLocks noChangeArrowheads="1"/>
          </p:cNvSpPr>
          <p:nvPr/>
        </p:nvSpPr>
        <p:spPr bwMode="auto">
          <a:xfrm>
            <a:off x="1662113" y="547688"/>
            <a:ext cx="3638550" cy="369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大学物理学（第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版  数字资源版）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TextBox 12"/>
          <p:cNvSpPr txBox="1">
            <a:spLocks noChangeArrowheads="1"/>
          </p:cNvSpPr>
          <p:nvPr/>
        </p:nvSpPr>
        <p:spPr bwMode="auto">
          <a:xfrm>
            <a:off x="1103313" y="179388"/>
            <a:ext cx="3738563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“十二五”普通高等教育本科国家级规划教材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700" y="1135063"/>
            <a:ext cx="12165013" cy="499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矩形 27">
            <a:hlinkClick r:id="" action="ppaction://hlinkshowjump?jump=previousslide"/>
          </p:cNvPr>
          <p:cNvSpPr/>
          <p:nvPr/>
        </p:nvSpPr>
        <p:spPr>
          <a:xfrm>
            <a:off x="10044113" y="6310313"/>
            <a:ext cx="960438" cy="38417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29" name="矩形 28">
            <a:hlinkClick r:id="" action="ppaction://hlinkshowjump?jump=nextslide"/>
          </p:cNvPr>
          <p:cNvSpPr/>
          <p:nvPr/>
        </p:nvSpPr>
        <p:spPr>
          <a:xfrm>
            <a:off x="11099800" y="6307138"/>
            <a:ext cx="960438" cy="3857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30" name="矩形 29">
            <a:hlinkClick r:id="" action="ppaction://hlinkshowjump?jump=firstslide"/>
          </p:cNvPr>
          <p:cNvSpPr/>
          <p:nvPr/>
        </p:nvSpPr>
        <p:spPr>
          <a:xfrm>
            <a:off x="8986838" y="6310313"/>
            <a:ext cx="962025" cy="38417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1035" name="矩形 16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11241088" y="6356350"/>
            <a:ext cx="677863" cy="2921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下一页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1036" name="矩形 30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10185400" y="6356350"/>
            <a:ext cx="677863" cy="2921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上一页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1037" name="矩形 102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9094788" y="6375400"/>
            <a:ext cx="677863" cy="2905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节目录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38" name="矩形 37">
            <a:hlinkClick r:id="rId15" action="ppaction://hlinkpres?slideindex=1&amp;slidetitle="/>
          </p:cNvPr>
          <p:cNvSpPr/>
          <p:nvPr/>
        </p:nvSpPr>
        <p:spPr>
          <a:xfrm>
            <a:off x="7920038" y="6310313"/>
            <a:ext cx="962025" cy="3857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1039" name="矩形 36"/>
          <p:cNvSpPr>
            <a:spLocks noChangeArrowheads="1"/>
          </p:cNvSpPr>
          <p:nvPr/>
        </p:nvSpPr>
        <p:spPr bwMode="auto">
          <a:xfrm>
            <a:off x="8061325" y="6375400"/>
            <a:ext cx="679450" cy="2905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章目录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pic>
        <p:nvPicPr>
          <p:cNvPr id="15375" name="Picture 2" descr="E:\课件\大学物理（数字资源版）\封面.jp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07988" y="55563"/>
            <a:ext cx="647700" cy="9175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6386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387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1EE173-1C29-4F14-9803-58130C2D2F2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7410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7411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2D4C87-3DE9-463F-AD56-D91E62A89BD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Relationship Id="rId30" Type="http://schemas.openxmlformats.org/officeDocument/2006/relationships/vmlDrawing" Target="../drawings/vmlDrawing2.vml"/><Relationship Id="rId3" Type="http://schemas.openxmlformats.org/officeDocument/2006/relationships/oleObject" Target="../embeddings/oleObject5.bin"/><Relationship Id="rId29" Type="http://schemas.openxmlformats.org/officeDocument/2006/relationships/slideLayout" Target="../slideLayouts/slideLayout9.xml"/><Relationship Id="rId28" Type="http://schemas.openxmlformats.org/officeDocument/2006/relationships/image" Target="../media/image18.wmf"/><Relationship Id="rId27" Type="http://schemas.openxmlformats.org/officeDocument/2006/relationships/oleObject" Target="../embeddings/oleObject17.bin"/><Relationship Id="rId26" Type="http://schemas.openxmlformats.org/officeDocument/2006/relationships/image" Target="../media/image17.wmf"/><Relationship Id="rId25" Type="http://schemas.openxmlformats.org/officeDocument/2006/relationships/oleObject" Target="../embeddings/oleObject16.bin"/><Relationship Id="rId24" Type="http://schemas.openxmlformats.org/officeDocument/2006/relationships/image" Target="../media/image16.wmf"/><Relationship Id="rId23" Type="http://schemas.openxmlformats.org/officeDocument/2006/relationships/oleObject" Target="../embeddings/oleObject15.bin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14.bin"/><Relationship Id="rId20" Type="http://schemas.openxmlformats.org/officeDocument/2006/relationships/image" Target="../media/image14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13.wmf"/><Relationship Id="rId17" Type="http://schemas.openxmlformats.org/officeDocument/2006/relationships/oleObject" Target="../embeddings/oleObject12.bin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11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10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9.wmf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9.xml"/><Relationship Id="rId14" Type="http://schemas.openxmlformats.org/officeDocument/2006/relationships/image" Target="../media/image25.wmf"/><Relationship Id="rId13" Type="http://schemas.openxmlformats.org/officeDocument/2006/relationships/oleObject" Target="../embeddings/oleObject24.bin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" Target="slide18.xml"/><Relationship Id="rId1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6.bin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9.xml"/><Relationship Id="rId20" Type="http://schemas.openxmlformats.org/officeDocument/2006/relationships/image" Target="../media/image35.wmf"/><Relationship Id="rId2" Type="http://schemas.openxmlformats.org/officeDocument/2006/relationships/image" Target="../media/image26.wmf"/><Relationship Id="rId19" Type="http://schemas.openxmlformats.org/officeDocument/2006/relationships/oleObject" Target="../embeddings/oleObject34.bin"/><Relationship Id="rId18" Type="http://schemas.openxmlformats.org/officeDocument/2006/relationships/image" Target="../media/image34.wmf"/><Relationship Id="rId17" Type="http://schemas.openxmlformats.org/officeDocument/2006/relationships/oleObject" Target="../embeddings/oleObject33.bin"/><Relationship Id="rId16" Type="http://schemas.openxmlformats.org/officeDocument/2006/relationships/image" Target="../media/image33.wmf"/><Relationship Id="rId15" Type="http://schemas.openxmlformats.org/officeDocument/2006/relationships/oleObject" Target="../embeddings/oleObject32.bin"/><Relationship Id="rId14" Type="http://schemas.openxmlformats.org/officeDocument/2006/relationships/image" Target="../media/image32.wmf"/><Relationship Id="rId13" Type="http://schemas.openxmlformats.org/officeDocument/2006/relationships/oleObject" Target="../embeddings/oleObject31.bin"/><Relationship Id="rId12" Type="http://schemas.openxmlformats.org/officeDocument/2006/relationships/image" Target="../media/image31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26.wmf"/><Relationship Id="rId18" Type="http://schemas.openxmlformats.org/officeDocument/2006/relationships/vmlDrawing" Target="../drawings/vmlDrawing5.vml"/><Relationship Id="rId17" Type="http://schemas.openxmlformats.org/officeDocument/2006/relationships/slideLayout" Target="../slideLayouts/slideLayout9.xml"/><Relationship Id="rId16" Type="http://schemas.openxmlformats.org/officeDocument/2006/relationships/image" Target="../media/image42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41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40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35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44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43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48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7.bin"/><Relationship Id="rId45" Type="http://schemas.openxmlformats.org/officeDocument/2006/relationships/vmlDrawing" Target="../drawings/vmlDrawing7.vml"/><Relationship Id="rId44" Type="http://schemas.openxmlformats.org/officeDocument/2006/relationships/slideLayout" Target="../slideLayouts/slideLayout9.xml"/><Relationship Id="rId43" Type="http://schemas.openxmlformats.org/officeDocument/2006/relationships/image" Target="../media/image65.wmf"/><Relationship Id="rId42" Type="http://schemas.openxmlformats.org/officeDocument/2006/relationships/oleObject" Target="../embeddings/oleObject66.bin"/><Relationship Id="rId41" Type="http://schemas.openxmlformats.org/officeDocument/2006/relationships/image" Target="../media/image64.wmf"/><Relationship Id="rId40" Type="http://schemas.openxmlformats.org/officeDocument/2006/relationships/oleObject" Target="../embeddings/oleObject65.bin"/><Relationship Id="rId4" Type="http://schemas.openxmlformats.org/officeDocument/2006/relationships/image" Target="../media/image46.wmf"/><Relationship Id="rId39" Type="http://schemas.openxmlformats.org/officeDocument/2006/relationships/image" Target="../media/image63.wmf"/><Relationship Id="rId38" Type="http://schemas.openxmlformats.org/officeDocument/2006/relationships/oleObject" Target="../embeddings/oleObject64.bin"/><Relationship Id="rId37" Type="http://schemas.openxmlformats.org/officeDocument/2006/relationships/image" Target="../media/image62.wmf"/><Relationship Id="rId36" Type="http://schemas.openxmlformats.org/officeDocument/2006/relationships/oleObject" Target="../embeddings/oleObject63.bin"/><Relationship Id="rId35" Type="http://schemas.openxmlformats.org/officeDocument/2006/relationships/image" Target="../media/image61.wmf"/><Relationship Id="rId34" Type="http://schemas.openxmlformats.org/officeDocument/2006/relationships/oleObject" Target="../embeddings/oleObject62.bin"/><Relationship Id="rId33" Type="http://schemas.openxmlformats.org/officeDocument/2006/relationships/image" Target="../media/image60.wmf"/><Relationship Id="rId32" Type="http://schemas.openxmlformats.org/officeDocument/2006/relationships/oleObject" Target="../embeddings/oleObject61.bin"/><Relationship Id="rId31" Type="http://schemas.openxmlformats.org/officeDocument/2006/relationships/oleObject" Target="../embeddings/oleObject60.bin"/><Relationship Id="rId30" Type="http://schemas.openxmlformats.org/officeDocument/2006/relationships/image" Target="../media/image59.wmf"/><Relationship Id="rId3" Type="http://schemas.openxmlformats.org/officeDocument/2006/relationships/oleObject" Target="../embeddings/oleObject46.bin"/><Relationship Id="rId29" Type="http://schemas.openxmlformats.org/officeDocument/2006/relationships/oleObject" Target="../embeddings/oleObject59.bin"/><Relationship Id="rId28" Type="http://schemas.openxmlformats.org/officeDocument/2006/relationships/image" Target="../media/image58.wmf"/><Relationship Id="rId27" Type="http://schemas.openxmlformats.org/officeDocument/2006/relationships/oleObject" Target="../embeddings/oleObject58.bin"/><Relationship Id="rId26" Type="http://schemas.openxmlformats.org/officeDocument/2006/relationships/image" Target="../media/image57.wmf"/><Relationship Id="rId25" Type="http://schemas.openxmlformats.org/officeDocument/2006/relationships/oleObject" Target="../embeddings/oleObject57.bin"/><Relationship Id="rId24" Type="http://schemas.openxmlformats.org/officeDocument/2006/relationships/image" Target="../media/image56.wmf"/><Relationship Id="rId23" Type="http://schemas.openxmlformats.org/officeDocument/2006/relationships/oleObject" Target="../embeddings/oleObject56.bin"/><Relationship Id="rId22" Type="http://schemas.openxmlformats.org/officeDocument/2006/relationships/image" Target="../media/image55.wmf"/><Relationship Id="rId21" Type="http://schemas.openxmlformats.org/officeDocument/2006/relationships/oleObject" Target="../embeddings/oleObject55.bin"/><Relationship Id="rId20" Type="http://schemas.openxmlformats.org/officeDocument/2006/relationships/image" Target="../media/image54.wmf"/><Relationship Id="rId2" Type="http://schemas.openxmlformats.org/officeDocument/2006/relationships/image" Target="../media/image45.wmf"/><Relationship Id="rId19" Type="http://schemas.openxmlformats.org/officeDocument/2006/relationships/oleObject" Target="../embeddings/oleObject54.bin"/><Relationship Id="rId18" Type="http://schemas.openxmlformats.org/officeDocument/2006/relationships/image" Target="../media/image53.wmf"/><Relationship Id="rId17" Type="http://schemas.openxmlformats.org/officeDocument/2006/relationships/oleObject" Target="../embeddings/oleObject53.bin"/><Relationship Id="rId16" Type="http://schemas.openxmlformats.org/officeDocument/2006/relationships/image" Target="../media/image52.wmf"/><Relationship Id="rId15" Type="http://schemas.openxmlformats.org/officeDocument/2006/relationships/oleObject" Target="../embeddings/oleObject52.bin"/><Relationship Id="rId14" Type="http://schemas.openxmlformats.org/officeDocument/2006/relationships/image" Target="../media/image51.wmf"/><Relationship Id="rId13" Type="http://schemas.openxmlformats.org/officeDocument/2006/relationships/oleObject" Target="../embeddings/oleObject51.bin"/><Relationship Id="rId12" Type="http://schemas.openxmlformats.org/officeDocument/2006/relationships/image" Target="../media/image50.wmf"/><Relationship Id="rId11" Type="http://schemas.openxmlformats.org/officeDocument/2006/relationships/oleObject" Target="../embeddings/oleObject50.bin"/><Relationship Id="rId10" Type="http://schemas.openxmlformats.org/officeDocument/2006/relationships/image" Target="../media/image49.wmf"/><Relationship Id="rId1" Type="http://schemas.openxmlformats.org/officeDocument/2006/relationships/oleObject" Target="../embeddings/oleObject4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8.bin"/><Relationship Id="rId20" Type="http://schemas.openxmlformats.org/officeDocument/2006/relationships/vmlDrawing" Target="../drawings/vmlDrawing8.vml"/><Relationship Id="rId2" Type="http://schemas.openxmlformats.org/officeDocument/2006/relationships/image" Target="../media/image66.wmf"/><Relationship Id="rId19" Type="http://schemas.openxmlformats.org/officeDocument/2006/relationships/slideLayout" Target="../slideLayouts/slideLayout9.xml"/><Relationship Id="rId18" Type="http://schemas.openxmlformats.org/officeDocument/2006/relationships/image" Target="../media/image74.wmf"/><Relationship Id="rId17" Type="http://schemas.openxmlformats.org/officeDocument/2006/relationships/oleObject" Target="../embeddings/oleObject75.bin"/><Relationship Id="rId16" Type="http://schemas.openxmlformats.org/officeDocument/2006/relationships/image" Target="../media/image73.wmf"/><Relationship Id="rId15" Type="http://schemas.openxmlformats.org/officeDocument/2006/relationships/oleObject" Target="../embeddings/oleObject74.bin"/><Relationship Id="rId14" Type="http://schemas.openxmlformats.org/officeDocument/2006/relationships/image" Target="../media/image72.wmf"/><Relationship Id="rId13" Type="http://schemas.openxmlformats.org/officeDocument/2006/relationships/oleObject" Target="../embeddings/oleObject73.bin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7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wmf"/><Relationship Id="rId8" Type="http://schemas.openxmlformats.org/officeDocument/2006/relationships/oleObject" Target="../embeddings/oleObject79.bin"/><Relationship Id="rId7" Type="http://schemas.openxmlformats.org/officeDocument/2006/relationships/image" Target="../media/image78.wmf"/><Relationship Id="rId6" Type="http://schemas.openxmlformats.org/officeDocument/2006/relationships/oleObject" Target="../embeddings/oleObject78.bin"/><Relationship Id="rId5" Type="http://schemas.openxmlformats.org/officeDocument/2006/relationships/image" Target="../media/image77.wmf"/><Relationship Id="rId4" Type="http://schemas.openxmlformats.org/officeDocument/2006/relationships/oleObject" Target="../embeddings/oleObject77.bin"/><Relationship Id="rId3" Type="http://schemas.openxmlformats.org/officeDocument/2006/relationships/image" Target="../media/image76.png"/><Relationship Id="rId2" Type="http://schemas.openxmlformats.org/officeDocument/2006/relationships/image" Target="../media/image75.wmf"/><Relationship Id="rId13" Type="http://schemas.openxmlformats.org/officeDocument/2006/relationships/vmlDrawing" Target="../drawings/vmlDrawing9.vml"/><Relationship Id="rId12" Type="http://schemas.openxmlformats.org/officeDocument/2006/relationships/slideLayout" Target="../slideLayouts/slideLayout9.xml"/><Relationship Id="rId11" Type="http://schemas.openxmlformats.org/officeDocument/2006/relationships/image" Target="../media/image80.wmf"/><Relationship Id="rId10" Type="http://schemas.openxmlformats.org/officeDocument/2006/relationships/oleObject" Target="../embeddings/oleObject80.bin"/><Relationship Id="rId1" Type="http://schemas.openxmlformats.org/officeDocument/2006/relationships/oleObject" Target="../embeddings/oleObject7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image" Target="../media/image84.w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2.bin"/><Relationship Id="rId2" Type="http://schemas.openxmlformats.org/officeDocument/2006/relationships/image" Target="../media/image81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81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9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86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85.wmf"/><Relationship Id="rId16" Type="http://schemas.openxmlformats.org/officeDocument/2006/relationships/vmlDrawing" Target="../drawings/vmlDrawing11.vml"/><Relationship Id="rId15" Type="http://schemas.openxmlformats.org/officeDocument/2006/relationships/slideLayout" Target="../slideLayouts/slideLayout9.xml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91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90.bin"/><Relationship Id="rId10" Type="http://schemas.openxmlformats.org/officeDocument/2006/relationships/image" Target="../media/image89.wmf"/><Relationship Id="rId1" Type="http://schemas.openxmlformats.org/officeDocument/2006/relationships/oleObject" Target="../embeddings/oleObject85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6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93.bin"/><Relationship Id="rId22" Type="http://schemas.openxmlformats.org/officeDocument/2006/relationships/vmlDrawing" Target="../drawings/vmlDrawing12.vml"/><Relationship Id="rId21" Type="http://schemas.openxmlformats.org/officeDocument/2006/relationships/slideLayout" Target="../slideLayouts/slideLayout9.xml"/><Relationship Id="rId20" Type="http://schemas.openxmlformats.org/officeDocument/2006/relationships/image" Target="../media/image101.wmf"/><Relationship Id="rId2" Type="http://schemas.openxmlformats.org/officeDocument/2006/relationships/image" Target="../media/image92.wmf"/><Relationship Id="rId19" Type="http://schemas.openxmlformats.org/officeDocument/2006/relationships/oleObject" Target="../embeddings/oleObject101.bin"/><Relationship Id="rId18" Type="http://schemas.openxmlformats.org/officeDocument/2006/relationships/image" Target="../media/image100.wmf"/><Relationship Id="rId17" Type="http://schemas.openxmlformats.org/officeDocument/2006/relationships/oleObject" Target="../embeddings/oleObject100.bin"/><Relationship Id="rId16" Type="http://schemas.openxmlformats.org/officeDocument/2006/relationships/image" Target="../media/image99.wmf"/><Relationship Id="rId15" Type="http://schemas.openxmlformats.org/officeDocument/2006/relationships/oleObject" Target="../embeddings/oleObject99.bin"/><Relationship Id="rId14" Type="http://schemas.openxmlformats.org/officeDocument/2006/relationships/image" Target="../media/image98.wmf"/><Relationship Id="rId13" Type="http://schemas.openxmlformats.org/officeDocument/2006/relationships/oleObject" Target="../embeddings/oleObject98.bin"/><Relationship Id="rId12" Type="http://schemas.openxmlformats.org/officeDocument/2006/relationships/image" Target="../media/image97.wmf"/><Relationship Id="rId11" Type="http://schemas.openxmlformats.org/officeDocument/2006/relationships/oleObject" Target="../embeddings/oleObject97.bin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92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3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102.w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9.xml"/><Relationship Id="rId12" Type="http://schemas.openxmlformats.org/officeDocument/2006/relationships/image" Target="../media/image107.w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6.wmf"/><Relationship Id="rId1" Type="http://schemas.openxmlformats.org/officeDocument/2006/relationships/oleObject" Target="../embeddings/oleObject10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109.bin"/><Relationship Id="rId2" Type="http://schemas.openxmlformats.org/officeDocument/2006/relationships/image" Target="../media/image108.wmf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9.xml"/><Relationship Id="rId12" Type="http://schemas.openxmlformats.org/officeDocument/2006/relationships/image" Target="../media/image113.wmf"/><Relationship Id="rId11" Type="http://schemas.openxmlformats.org/officeDocument/2006/relationships/oleObject" Target="../embeddings/oleObject113.bin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10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ext Box 2"/>
          <p:cNvSpPr>
            <a:spLocks noChangeArrowheads="1"/>
          </p:cNvSpPr>
          <p:nvPr/>
        </p:nvSpPr>
        <p:spPr bwMode="auto">
          <a:xfrm>
            <a:off x="541338" y="796925"/>
            <a:ext cx="4976813" cy="501650"/>
          </a:xfrm>
          <a:prstGeom prst="homePlate">
            <a:avLst>
              <a:gd name="adj" fmla="val 50043"/>
            </a:avLst>
          </a:prstGeom>
          <a:solidFill>
            <a:srgbClr val="539A8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大学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物理课程的教学内容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00088" y="2851150"/>
            <a:ext cx="10660063" cy="103188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2">
            <a:srgbClr val="0079BA">
              <a:shade val="50000"/>
            </a:srgbClr>
          </a:lnRef>
          <a:fillRef idx="1">
            <a:srgbClr val="0079BA"/>
          </a:fillRef>
          <a:effectRef idx="0">
            <a:srgbClr val="0079BA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32"/>
          <p:cNvGrpSpPr/>
          <p:nvPr/>
        </p:nvGrpSpPr>
        <p:grpSpPr>
          <a:xfrm>
            <a:off x="5824891" y="2952962"/>
            <a:ext cx="5536353" cy="3360420"/>
            <a:chOff x="6095853" y="1170205"/>
            <a:chExt cx="5292872" cy="2471738"/>
          </a:xfrm>
          <a:noFill/>
        </p:grpSpPr>
        <p:sp>
          <p:nvSpPr>
            <p:cNvPr id="34" name="矩形 33"/>
            <p:cNvSpPr/>
            <p:nvPr/>
          </p:nvSpPr>
          <p:spPr>
            <a:xfrm>
              <a:off x="6096000" y="1170205"/>
              <a:ext cx="5292725" cy="2471737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1273206" y="1170205"/>
              <a:ext cx="115519" cy="110049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1273206" y="3531894"/>
              <a:ext cx="115519" cy="110049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6095853" y="1170205"/>
              <a:ext cx="127147" cy="110049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6095853" y="3531894"/>
              <a:ext cx="130321" cy="110049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 fontScale="25000" lnSpcReduction="20000"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700088" y="1884363"/>
            <a:ext cx="10661650" cy="966788"/>
          </a:xfrm>
          <a:prstGeom prst="rect">
            <a:avLst/>
          </a:prstGeom>
          <a:solidFill>
            <a:srgbClr val="0D5D44"/>
          </a:solidFill>
          <a:ln>
            <a:noFill/>
          </a:ln>
        </p:spPr>
        <p:style>
          <a:lnRef idx="2">
            <a:srgbClr val="0079BA">
              <a:shade val="50000"/>
            </a:srgbClr>
          </a:lnRef>
          <a:fillRef idx="1">
            <a:srgbClr val="0079BA"/>
          </a:fillRef>
          <a:effectRef idx="0">
            <a:srgbClr val="0079BA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文本框 1"/>
          <p:cNvSpPr txBox="1"/>
          <p:nvPr/>
        </p:nvSpPr>
        <p:spPr>
          <a:xfrm>
            <a:off x="957263" y="2079625"/>
            <a:ext cx="10237788" cy="584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kumimoji="0" lang="en-US" altLang="zh-CN" sz="3200" kern="1200" cap="none" spc="0" normalizeH="0" baseline="0" noProof="0" dirty="0">
                <a:solidFill>
                  <a:schemeClr val="bg1"/>
                </a:solidFill>
                <a:latin typeface="+mn-ea"/>
                <a:ea typeface="宋体" panose="02010600030101010101" pitchFamily="2" charset="-122"/>
                <a:cs typeface="+mn-ea"/>
                <a:sym typeface="+mn-ea"/>
              </a:rPr>
              <a:t>  </a:t>
            </a:r>
            <a:r>
              <a:rPr kumimoji="0" lang="en-US" altLang="zh-CN" sz="3200" b="1" kern="1200" cap="none" spc="0" normalizeH="0" baseline="0" noProof="0" dirty="0">
                <a:solidFill>
                  <a:schemeClr val="bg1"/>
                </a:solidFill>
                <a:latin typeface="Arial" panose="020B0604020202020204" pitchFamily="34" charset="0"/>
                <a:ea typeface="仿宋" panose="02010609060101010101" pitchFamily="49" charset="-122"/>
                <a:cs typeface="+mn-cs"/>
                <a:sym typeface="+mn-ea"/>
              </a:rPr>
              <a:t> </a:t>
            </a:r>
            <a:r>
              <a:rPr kumimoji="0" lang="en-US" altLang="zh-CN" sz="3200" b="1" kern="1200" cap="none" spc="0" normalizeH="0" baseline="0" noProof="0" dirty="0">
                <a:solidFill>
                  <a:schemeClr val="bg1"/>
                </a:solidFill>
                <a:latin typeface="+mn-ea"/>
                <a:ea typeface="宋体" panose="02010600030101010101" pitchFamily="2" charset="-122"/>
                <a:cs typeface="+mn-ea"/>
                <a:sym typeface="+mn-ea"/>
              </a:rPr>
              <a:t>96</a:t>
            </a:r>
            <a:r>
              <a:rPr kumimoji="0" lang="zh-CN" altLang="en-US" sz="3200" b="1" kern="1200" cap="none" spc="0" normalizeH="0" baseline="0" noProof="0" dirty="0">
                <a:solidFill>
                  <a:schemeClr val="bg1"/>
                </a:solidFill>
                <a:latin typeface="+mn-ea"/>
                <a:ea typeface="宋体" panose="02010600030101010101" pitchFamily="2" charset="-122"/>
                <a:cs typeface="+mn-ea"/>
                <a:sym typeface="+mn-ea"/>
              </a:rPr>
              <a:t>学时，</a:t>
            </a:r>
            <a:r>
              <a:rPr kumimoji="0" lang="en-US" altLang="zh-CN" sz="3200" b="1" kern="1200" cap="none" spc="0" normalizeH="0" baseline="0" noProof="0" dirty="0">
                <a:solidFill>
                  <a:schemeClr val="bg1"/>
                </a:solidFill>
                <a:latin typeface="+mn-ea"/>
                <a:ea typeface="宋体" panose="02010600030101010101" pitchFamily="2" charset="-122"/>
                <a:cs typeface="+mn-ea"/>
                <a:sym typeface="+mn-ea"/>
              </a:rPr>
              <a:t>6</a:t>
            </a:r>
            <a:r>
              <a:rPr kumimoji="0" lang="zh-CN" altLang="en-US" sz="3200" b="1" kern="1200" cap="none" spc="0" normalizeH="0" baseline="0" noProof="0" dirty="0">
                <a:solidFill>
                  <a:schemeClr val="bg1"/>
                </a:solidFill>
                <a:latin typeface="+mn-ea"/>
                <a:ea typeface="宋体" panose="02010600030101010101" pitchFamily="2" charset="-122"/>
                <a:cs typeface="+mn-ea"/>
                <a:sym typeface="+mn-ea"/>
              </a:rPr>
              <a:t>个学分，安排在</a:t>
            </a:r>
            <a:r>
              <a:rPr kumimoji="0" lang="en-US" altLang="zh-CN" sz="3200" b="1" kern="1200" cap="none" spc="0" normalizeH="0" baseline="0" noProof="0" dirty="0">
                <a:solidFill>
                  <a:schemeClr val="bg1"/>
                </a:solidFill>
                <a:latin typeface="+mn-ea"/>
                <a:ea typeface="宋体" panose="02010600030101010101" pitchFamily="2" charset="-122"/>
                <a:cs typeface="+mn-ea"/>
                <a:sym typeface="+mn-ea"/>
              </a:rPr>
              <a:t>2</a:t>
            </a:r>
            <a:r>
              <a:rPr kumimoji="0" lang="zh-CN" altLang="en-US" sz="3200" b="1" kern="1200" cap="none" spc="0" normalizeH="0" baseline="0" noProof="0" dirty="0">
                <a:solidFill>
                  <a:schemeClr val="bg1"/>
                </a:solidFill>
                <a:latin typeface="+mn-ea"/>
                <a:ea typeface="宋体" panose="02010600030101010101" pitchFamily="2" charset="-122"/>
                <a:cs typeface="+mn-ea"/>
                <a:sym typeface="+mn-ea"/>
              </a:rPr>
              <a:t>个学期内完成</a:t>
            </a:r>
            <a:r>
              <a:rPr kumimoji="0" lang="zh-CN" altLang="en-US" sz="3200" b="1" kern="1200" cap="none" spc="0" normalizeH="0" baseline="0" noProof="0" dirty="0">
                <a:latin typeface="+mn-ea"/>
                <a:ea typeface="宋体" panose="02010600030101010101" pitchFamily="2" charset="-122"/>
                <a:cs typeface="+mn-ea"/>
                <a:sym typeface="+mn-ea"/>
              </a:rPr>
              <a:t>。</a:t>
            </a:r>
            <a:endParaRPr kumimoji="0" lang="zh-CN" altLang="en-US" sz="3200" b="1" kern="1200" cap="none" spc="0" normalizeH="0" baseline="0" noProof="0" dirty="0">
              <a:latin typeface="+mn-ea"/>
              <a:ea typeface="宋体" panose="02010600030101010101" pitchFamily="2" charset="-122"/>
              <a:cs typeface="+mn-ea"/>
              <a:sym typeface="+mn-ea"/>
            </a:endParaRPr>
          </a:p>
        </p:txBody>
      </p:sp>
      <p:grpSp>
        <p:nvGrpSpPr>
          <p:cNvPr id="24583" name="组合 40"/>
          <p:cNvGrpSpPr/>
          <p:nvPr/>
        </p:nvGrpSpPr>
        <p:grpSpPr>
          <a:xfrm>
            <a:off x="700088" y="2952750"/>
            <a:ext cx="5102225" cy="3360738"/>
            <a:chOff x="1063" y="3154"/>
            <a:chExt cx="6026" cy="3969"/>
          </a:xfrm>
        </p:grpSpPr>
        <p:grpSp>
          <p:nvGrpSpPr>
            <p:cNvPr id="4" name="组合 41"/>
            <p:cNvGrpSpPr/>
            <p:nvPr/>
          </p:nvGrpSpPr>
          <p:grpSpPr>
            <a:xfrm>
              <a:off x="1063" y="3154"/>
              <a:ext cx="5911" cy="3969"/>
              <a:chOff x="6095853" y="1170205"/>
              <a:chExt cx="5292872" cy="2471738"/>
            </a:xfrm>
            <a:noFill/>
          </p:grpSpPr>
          <p:sp>
            <p:nvSpPr>
              <p:cNvPr id="47" name="矩形 46"/>
              <p:cNvSpPr/>
              <p:nvPr/>
            </p:nvSpPr>
            <p:spPr>
              <a:xfrm>
                <a:off x="6096000" y="1170205"/>
                <a:ext cx="5292725" cy="2471737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11273206" y="1170205"/>
                <a:ext cx="115519" cy="110049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 fontScale="25000" lnSpcReduction="20000"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11273206" y="3531894"/>
                <a:ext cx="115519" cy="110049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 fontScale="25000" lnSpcReduction="20000"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6095853" y="1170205"/>
                <a:ext cx="127147" cy="110049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 fontScale="25000" lnSpcReduction="20000"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6095853" y="3531894"/>
                <a:ext cx="130321" cy="110049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  <a:normAutofit fontScale="25000" lnSpcReduction="20000"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3" name="文本框 17442"/>
            <p:cNvSpPr txBox="1"/>
            <p:nvPr/>
          </p:nvSpPr>
          <p:spPr>
            <a:xfrm>
              <a:off x="1367" y="3287"/>
              <a:ext cx="5199" cy="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R="0" algn="just" defTabSz="914400">
                <a:lnSpc>
                  <a:spcPct val="115000"/>
                </a:lnSpc>
                <a:buClrTx/>
                <a:buSzTx/>
                <a:buFontTx/>
                <a:buNone/>
                <a:defRPr/>
              </a:pPr>
              <a:r>
                <a:rPr kumimoji="0" lang="zh-CN" sz="2665" b="1" kern="1200" cap="none" spc="0" normalizeH="0" baseline="0" noProof="0" dirty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大学物理（</a:t>
              </a:r>
              <a:r>
                <a:rPr kumimoji="0" lang="en-US" altLang="zh-CN" sz="2665" b="1" kern="1200" cap="none" spc="0" normalizeH="0" baseline="0" noProof="0" dirty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2665" b="1" kern="1200" cap="none" spc="0" normalizeH="0" baseline="0" noProof="0" dirty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kumimoji="0" lang="en-US" altLang="zh-CN" sz="2665" b="1" kern="1200" cap="none" spc="0" normalizeH="0" baseline="0" noProof="0" dirty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   48</a:t>
              </a:r>
              <a:r>
                <a:rPr kumimoji="0" lang="zh-CN" altLang="en-US" sz="2665" b="1" kern="1200" cap="none" spc="0" normalizeH="0" baseline="0" noProof="0" dirty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学时</a:t>
              </a:r>
              <a:endParaRPr kumimoji="0" lang="zh-CN" altLang="en-US" sz="2665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文本框 62"/>
            <p:cNvSpPr txBox="1"/>
            <p:nvPr/>
          </p:nvSpPr>
          <p:spPr>
            <a:xfrm>
              <a:off x="1227" y="4129"/>
              <a:ext cx="5862" cy="5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sz="2265" b="1" kern="1200" cap="none" spc="0" normalizeH="0" baseline="0" noProof="0" dirty="0">
                  <a:solidFill>
                    <a:srgbClr val="ED7D31"/>
                  </a:solidFill>
                  <a:latin typeface="+mj-ea"/>
                  <a:ea typeface="+mj-ea"/>
                  <a:cs typeface="+mj-ea"/>
                  <a:sym typeface="+mn-ea"/>
                </a:rPr>
                <a:t>质点运动学、质点动力学、刚体力学</a:t>
              </a:r>
              <a:r>
                <a:rPr kumimoji="0" lang="zh-CN" altLang="en-US" sz="1865" b="1" kern="1200" cap="none" spc="0" normalizeH="0" baseline="0" noProof="0" dirty="0">
                  <a:solidFill>
                    <a:srgbClr val="ED7D31"/>
                  </a:solidFill>
                  <a:latin typeface="+mj-ea"/>
                  <a:ea typeface="+mj-ea"/>
                  <a:cs typeface="+mj-ea"/>
                </a:rPr>
                <a:t>；</a:t>
              </a:r>
              <a:endParaRPr kumimoji="0" lang="zh-CN" altLang="en-US" sz="18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</a:endParaRPr>
            </a:p>
          </p:txBody>
        </p:sp>
        <p:sp>
          <p:nvSpPr>
            <p:cNvPr id="46" name="文本框 9"/>
            <p:cNvSpPr txBox="1"/>
            <p:nvPr/>
          </p:nvSpPr>
          <p:spPr>
            <a:xfrm>
              <a:off x="1400" y="5908"/>
              <a:ext cx="3352" cy="5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sz="2265" b="1" kern="1200" cap="none" spc="0" normalizeH="0" baseline="0" noProof="0" dirty="0">
                  <a:solidFill>
                    <a:srgbClr val="ED7D31"/>
                  </a:solidFill>
                  <a:latin typeface="+mj-ea"/>
                  <a:ea typeface="+mj-ea"/>
                  <a:cs typeface="+mj-ea"/>
                  <a:sym typeface="+mn-ea"/>
                </a:rPr>
                <a:t>静电场</a:t>
              </a:r>
              <a:r>
                <a:rPr kumimoji="0" lang="en-US" altLang="zh-CN" sz="2265" b="1" kern="1200" cap="none" spc="0" normalizeH="0" baseline="0" noProof="0" dirty="0">
                  <a:solidFill>
                    <a:srgbClr val="ED7D31"/>
                  </a:solidFill>
                  <a:latin typeface="+mj-ea"/>
                  <a:ea typeface="+mj-ea"/>
                  <a:cs typeface="+mj-ea"/>
                  <a:sym typeface="+mn-ea"/>
                </a:rPr>
                <a:t>I</a:t>
              </a:r>
              <a:r>
                <a:rPr kumimoji="0" lang="zh-CN" sz="2265" b="1" kern="1200" cap="none" spc="0" normalizeH="0" baseline="0" noProof="0" dirty="0">
                  <a:solidFill>
                    <a:srgbClr val="ED7D31"/>
                  </a:solidFill>
                  <a:latin typeface="+mj-ea"/>
                  <a:ea typeface="+mj-ea"/>
                  <a:cs typeface="+mj-ea"/>
                  <a:sym typeface="+mn-ea"/>
                </a:rPr>
                <a:t>。</a:t>
              </a:r>
              <a:endParaRPr kumimoji="0" lang="zh-CN" altLang="en-US" sz="22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</a:endParaRPr>
            </a:p>
          </p:txBody>
        </p:sp>
      </p:grpSp>
      <p:sp>
        <p:nvSpPr>
          <p:cNvPr id="52" name="文本框 10"/>
          <p:cNvSpPr txBox="1"/>
          <p:nvPr/>
        </p:nvSpPr>
        <p:spPr>
          <a:xfrm>
            <a:off x="6065838" y="3035300"/>
            <a:ext cx="4400550" cy="5635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algn="just" defTabSz="91440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0" lang="zh-CN" sz="2665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大学物理（</a:t>
            </a:r>
            <a:r>
              <a:rPr kumimoji="0" lang="en-US" altLang="zh-CN" sz="2665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665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altLang="zh-CN" sz="2665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II   48</a:t>
            </a:r>
            <a:r>
              <a:rPr kumimoji="0" lang="zh-CN" altLang="en-US" sz="2665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学时</a:t>
            </a:r>
            <a:endParaRPr kumimoji="0" lang="zh-CN" altLang="en-US" sz="2665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文本框 11"/>
          <p:cNvSpPr txBox="1"/>
          <p:nvPr/>
        </p:nvSpPr>
        <p:spPr>
          <a:xfrm>
            <a:off x="5961063" y="3778250"/>
            <a:ext cx="4962525" cy="4397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sz="22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  <a:sym typeface="+mn-ea"/>
              </a:rPr>
              <a:t>稳恒磁场、变化的电磁场</a:t>
            </a:r>
            <a:r>
              <a:rPr kumimoji="0" lang="zh-CN" altLang="en-US" sz="18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</a:rPr>
              <a:t>；</a:t>
            </a:r>
            <a:endParaRPr kumimoji="0" lang="zh-CN" altLang="en-US" sz="1865" b="1" kern="1200" cap="none" spc="0" normalizeH="0" baseline="0" noProof="0" dirty="0">
              <a:solidFill>
                <a:srgbClr val="ED7D3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4" name="文本框 26"/>
          <p:cNvSpPr txBox="1"/>
          <p:nvPr/>
        </p:nvSpPr>
        <p:spPr>
          <a:xfrm>
            <a:off x="6011863" y="4257675"/>
            <a:ext cx="4964113" cy="4397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sz="22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  <a:sym typeface="+mn-ea"/>
              </a:rPr>
              <a:t>量子力学基础</a:t>
            </a:r>
            <a:r>
              <a:rPr kumimoji="0" lang="zh-CN" altLang="en-US" sz="18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</a:rPr>
              <a:t>；</a:t>
            </a:r>
            <a:endParaRPr kumimoji="0" lang="zh-CN" altLang="en-US" sz="1865" b="1" kern="1200" cap="none" spc="0" normalizeH="0" baseline="0" noProof="0" dirty="0">
              <a:solidFill>
                <a:srgbClr val="ED7D3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5" name="文本框 27"/>
          <p:cNvSpPr txBox="1"/>
          <p:nvPr/>
        </p:nvSpPr>
        <p:spPr>
          <a:xfrm>
            <a:off x="6045200" y="4727575"/>
            <a:ext cx="3362325" cy="140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135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波动光学；</a:t>
            </a:r>
            <a:endParaRPr kumimoji="0" lang="zh-CN" altLang="en-US" sz="2135" b="1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  <a:cs typeface="+mj-ea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135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机械振动和机械波</a:t>
            </a:r>
            <a:r>
              <a:rPr kumimoji="0" lang="en-US" altLang="zh-CN" sz="2135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II</a:t>
            </a:r>
            <a:r>
              <a:rPr kumimoji="0" lang="zh-CN" altLang="en-US" sz="2135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；</a:t>
            </a:r>
            <a:endParaRPr kumimoji="0" lang="zh-CN" altLang="en-US" sz="2135" b="1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  <a:cs typeface="+mj-ea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sz="2135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气体动理论和热力学</a:t>
            </a:r>
            <a:r>
              <a:rPr kumimoji="0" lang="zh-CN" altLang="en-US" sz="2135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</a:rPr>
              <a:t>；</a:t>
            </a:r>
            <a:endParaRPr kumimoji="0" lang="zh-CN" altLang="en-US" sz="2135" b="1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  <a:cs typeface="+mj-ea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135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</a:rPr>
              <a:t>流体力学；静电场</a:t>
            </a:r>
            <a:r>
              <a:rPr kumimoji="0" lang="en-US" altLang="zh-CN" sz="2135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cs typeface="+mj-ea"/>
              </a:rPr>
              <a:t>II</a:t>
            </a:r>
            <a:endParaRPr kumimoji="0" lang="en-US" altLang="zh-CN" sz="2135" b="1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56" name="文本框 28"/>
          <p:cNvSpPr txBox="1"/>
          <p:nvPr/>
        </p:nvSpPr>
        <p:spPr>
          <a:xfrm>
            <a:off x="8813800" y="4727575"/>
            <a:ext cx="2489200" cy="96361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sz="22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  <a:sym typeface="+mn-ea"/>
              </a:rPr>
              <a:t>模块化组合，</a:t>
            </a:r>
            <a:endParaRPr kumimoji="0" lang="zh-CN" sz="2265" b="1" kern="1200" cap="none" spc="0" normalizeH="0" baseline="0" noProof="0" dirty="0">
              <a:solidFill>
                <a:srgbClr val="ED7D3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sz="22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  <a:sym typeface="+mn-ea"/>
              </a:rPr>
              <a:t>根据专业选择组合</a:t>
            </a:r>
            <a:endParaRPr kumimoji="0" lang="zh-CN" sz="2265" b="1" kern="1200" cap="none" spc="0" normalizeH="0" baseline="0" noProof="0" dirty="0">
              <a:solidFill>
                <a:srgbClr val="ED7D3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4589" name="文本框 4"/>
          <p:cNvSpPr txBox="1"/>
          <p:nvPr/>
        </p:nvSpPr>
        <p:spPr>
          <a:xfrm>
            <a:off x="984250" y="1387475"/>
            <a:ext cx="95631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defTabSz="913130">
              <a:buSzPct val="2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必修课</a:t>
            </a:r>
            <a:r>
              <a:rPr lang="en-US" altLang="zh-CN" sz="2400" b="1" dirty="0">
                <a:latin typeface="Arial" panose="020B0604020202020204" pitchFamily="34" charset="0"/>
              </a:rPr>
              <a:t>  </a:t>
            </a:r>
            <a:r>
              <a:rPr lang="zh-CN" altLang="en-US" sz="2400" b="1" dirty="0">
                <a:latin typeface="Arial" panose="020B0604020202020204" pitchFamily="34" charset="0"/>
              </a:rPr>
              <a:t>公共基础课：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58" name="文本框 5"/>
          <p:cNvSpPr txBox="1"/>
          <p:nvPr/>
        </p:nvSpPr>
        <p:spPr>
          <a:xfrm>
            <a:off x="917575" y="4508818"/>
            <a:ext cx="2836863" cy="4397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sz="22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  <a:sym typeface="+mn-ea"/>
              </a:rPr>
              <a:t>狭义相对论</a:t>
            </a:r>
            <a:r>
              <a:rPr kumimoji="0" lang="zh-CN" altLang="en-US" sz="2265" b="1" kern="1200" cap="none" spc="0" normalizeH="0" baseline="0" noProof="0" dirty="0">
                <a:solidFill>
                  <a:srgbClr val="ED7D31"/>
                </a:solidFill>
                <a:latin typeface="+mj-ea"/>
                <a:ea typeface="+mj-ea"/>
                <a:cs typeface="+mj-ea"/>
              </a:rPr>
              <a:t>；</a:t>
            </a:r>
            <a:endParaRPr kumimoji="0" lang="zh-CN" altLang="en-US" sz="2265" b="1" kern="1200" cap="none" spc="0" normalizeH="0" baseline="0" noProof="0" dirty="0">
              <a:solidFill>
                <a:srgbClr val="ED7D3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2"/>
          <p:cNvSpPr>
            <a:spLocks noChangeArrowheads="1"/>
          </p:cNvSpPr>
          <p:nvPr/>
        </p:nvSpPr>
        <p:spPr bwMode="auto">
          <a:xfrm>
            <a:off x="709613" y="823913"/>
            <a:ext cx="3608388" cy="501650"/>
          </a:xfrm>
          <a:prstGeom prst="homePlate">
            <a:avLst>
              <a:gd name="adj" fmla="val 50043"/>
            </a:avLst>
          </a:prstGeom>
          <a:solidFill>
            <a:srgbClr val="539A8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的考核评价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627" name="文本框 3"/>
          <p:cNvSpPr txBox="1"/>
          <p:nvPr/>
        </p:nvSpPr>
        <p:spPr>
          <a:xfrm>
            <a:off x="709613" y="1325563"/>
            <a:ext cx="10801350" cy="45231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539A84"/>
                </a:solidFill>
                <a:latin typeface="微软雅黑 Light" panose="020B0502040204020203" charset="-122"/>
                <a:ea typeface="微软雅黑 Light" panose="020B0502040204020203" charset="-122"/>
              </a:rPr>
              <a:t>1. </a:t>
            </a:r>
            <a:r>
              <a:rPr lang="zh-CN" altLang="en-US" sz="2400" b="1" dirty="0">
                <a:solidFill>
                  <a:srgbClr val="539A84"/>
                </a:solidFill>
                <a:latin typeface="微软雅黑 Light" panose="020B0502040204020203" charset="-122"/>
                <a:ea typeface="微软雅黑 Light" panose="020B0502040204020203" charset="-122"/>
              </a:rPr>
              <a:t>成绩构成：</a:t>
            </a:r>
            <a:endParaRPr lang="zh-CN" altLang="en-US" sz="2400" b="1" dirty="0">
              <a:solidFill>
                <a:srgbClr val="539A84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平时成绩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40%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（在线测试、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作业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、课堂讨论问答、考勤）</a:t>
            </a: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没有补考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       </a:t>
            </a:r>
            <a:endParaRPr lang="en-US" altLang="zh-CN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期末考试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60%</a:t>
            </a: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（线下闭卷考试，教务处根据题库自动出题）</a:t>
            </a:r>
            <a:endParaRPr lang="en-US" altLang="zh-CN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539A84"/>
                </a:solidFill>
                <a:latin typeface="微软雅黑 Light" panose="020B0502040204020203" charset="-122"/>
                <a:ea typeface="微软雅黑 Light" panose="020B0502040204020203" charset="-122"/>
              </a:rPr>
              <a:t>2. </a:t>
            </a:r>
            <a:r>
              <a:rPr lang="zh-CN" altLang="en-US" sz="2400" b="1" dirty="0">
                <a:solidFill>
                  <a:srgbClr val="539A84"/>
                </a:solidFill>
                <a:latin typeface="微软雅黑 Light" panose="020B0502040204020203" charset="-122"/>
                <a:ea typeface="微软雅黑 Light" panose="020B0502040204020203" charset="-122"/>
              </a:rPr>
              <a:t>考试题型：</a:t>
            </a:r>
            <a:endParaRPr lang="en-US" altLang="zh-CN" sz="2400" b="1" dirty="0">
              <a:solidFill>
                <a:srgbClr val="539A84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选择：以基本概念和简单计算为主；</a:t>
            </a:r>
            <a:r>
              <a:rPr lang="en-US" altLang="zh-CN" sz="2400" dirty="0">
                <a:latin typeface="微软雅黑 Light" panose="020B0502040204020203" charset="-122"/>
                <a:ea typeface="微软雅黑 Light" panose="020B0502040204020203" charset="-122"/>
              </a:rPr>
              <a:t>					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填空：以物理规律的运用及简单计算为主；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计算：以物理规律与微积分相结合解决物理问题为主，围绕平时作业、典型例题进行命题。</a:t>
            </a:r>
            <a:endParaRPr lang="zh-CN" altLang="en-US" sz="2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2"/>
          <p:cNvSpPr>
            <a:spLocks noChangeArrowheads="1"/>
          </p:cNvSpPr>
          <p:nvPr/>
        </p:nvSpPr>
        <p:spPr bwMode="auto">
          <a:xfrm>
            <a:off x="311150" y="785813"/>
            <a:ext cx="4098925" cy="501650"/>
          </a:xfrm>
          <a:prstGeom prst="homePlate">
            <a:avLst>
              <a:gd name="adj" fmla="val 50043"/>
            </a:avLst>
          </a:prstGeom>
          <a:solidFill>
            <a:srgbClr val="539A8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大学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物理的课程特点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object 11"/>
          <p:cNvSpPr txBox="1"/>
          <p:nvPr/>
        </p:nvSpPr>
        <p:spPr>
          <a:xfrm>
            <a:off x="1587500" y="1625600"/>
            <a:ext cx="9509125" cy="2981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endParaRPr kumimoji="0" sz="3050" kern="1200" cap="none" spc="0" normalizeH="0" baseline="0" noProof="0"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  <a:p>
            <a:pPr marL="877570" marR="0" indent="-457835" defTabSz="914400">
              <a:spcBef>
                <a:spcPts val="5"/>
              </a:spcBef>
              <a:buClrTx/>
              <a:buSzTx/>
              <a:buFont typeface="Wingdings" panose="05000000000000000000"/>
              <a:buChar char=""/>
              <a:tabLst>
                <a:tab pos="876935" algn="l"/>
                <a:tab pos="878205" algn="l"/>
              </a:tabLst>
              <a:defRPr/>
            </a:pP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理规律</a:t>
            </a:r>
            <a:r>
              <a:rPr kumimoji="0" sz="2800" b="1" kern="1200" cap="none" spc="-1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kumimoji="0" sz="2800" b="1" kern="1200" cap="none" spc="1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殊</a:t>
            </a: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r>
              <a:rPr kumimoji="0" sz="2800" b="1" kern="1200" cap="none" spc="-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般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</a:t>
            </a:r>
            <a:r>
              <a:rPr kumimoji="0" sz="2800" b="1" kern="1200" cap="none" spc="-1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</a:t>
            </a:r>
            <a:endParaRPr kumimoji="0" sz="2800" kern="1200" cap="none" spc="0" normalizeH="0" baseline="0" noProof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7570" marR="0" indent="-457835" defTabSz="914400">
              <a:spcBef>
                <a:spcPts val="670"/>
              </a:spcBef>
              <a:buClrTx/>
              <a:buSzTx/>
              <a:buFont typeface="Wingdings" panose="05000000000000000000"/>
              <a:buChar char=""/>
              <a:tabLst>
                <a:tab pos="876935" algn="l"/>
                <a:tab pos="878205" algn="l"/>
              </a:tabLst>
              <a:defRPr/>
            </a:pP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描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述方法</a:t>
            </a:r>
            <a:r>
              <a:rPr kumimoji="0" sz="2800" b="1" kern="1200" cap="none" spc="-1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kumimoji="0" sz="2800" b="1" kern="1200" cap="none" spc="2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</a:t>
            </a:r>
            <a:r>
              <a:rPr kumimoji="0" sz="2800" b="1" kern="1200" cap="none" spc="-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</a:t>
            </a:r>
            <a:r>
              <a:rPr kumimoji="0" sz="2800" b="1" kern="1200" cap="none" spc="-5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矢量</a:t>
            </a:r>
            <a:endParaRPr kumimoji="0" sz="2800" kern="1200" cap="none" spc="0" normalizeH="0" baseline="0" noProof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7570" marR="0" indent="-457835" defTabSz="914400">
              <a:spcBef>
                <a:spcPts val="670"/>
              </a:spcBef>
              <a:buClrTx/>
              <a:buSzTx/>
              <a:buFont typeface="Wingdings" panose="05000000000000000000"/>
              <a:buChar char=""/>
              <a:tabLst>
                <a:tab pos="876935" algn="l"/>
                <a:tab pos="878205" algn="l"/>
              </a:tabLst>
              <a:defRPr/>
            </a:pPr>
            <a:r>
              <a:rPr kumimoji="0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维模式</a:t>
            </a:r>
            <a:r>
              <a:rPr kumimoji="0" sz="2800" b="1" kern="1200" cap="none" spc="-1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kumimoji="0" sz="2800" b="1" kern="1200" cap="none" spc="1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代数</a:t>
            </a:r>
            <a:r>
              <a:rPr kumimoji="0" sz="2800" b="1" kern="1200" cap="none" spc="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</a:t>
            </a:r>
            <a:r>
              <a:rPr kumimoji="0" sz="2800" b="1" kern="1200" cap="none" spc="-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</a:t>
            </a:r>
            <a:r>
              <a:rPr kumimoji="0" sz="2800" b="1" kern="1200" cap="none" spc="-10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微元</a:t>
            </a:r>
            <a:r>
              <a:rPr kumimoji="0" sz="2800" b="1" kern="1200" cap="none" spc="0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</a:t>
            </a:r>
            <a:r>
              <a:rPr kumimoji="0" sz="2800" b="1" kern="1200" cap="none" spc="-10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、积分</a:t>
            </a:r>
            <a:r>
              <a:rPr kumimoji="0" sz="2800" b="1" kern="1200" cap="none" spc="-15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</a:t>
            </a:r>
            <a:endParaRPr kumimoji="0" sz="2800" kern="1200" cap="none" spc="0" normalizeH="0" baseline="0" noProof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7570" marR="0" indent="-457835" defTabSz="914400">
              <a:spcBef>
                <a:spcPts val="675"/>
              </a:spcBef>
              <a:buClrTx/>
              <a:buSzTx/>
              <a:buFont typeface="Wingdings" panose="05000000000000000000"/>
              <a:buChar char=""/>
              <a:tabLst>
                <a:tab pos="876935" algn="l"/>
                <a:tab pos="878205" algn="l"/>
              </a:tabLst>
              <a:defRPr/>
            </a:pP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习方式</a:t>
            </a:r>
            <a:r>
              <a:rPr kumimoji="0" sz="2800" b="1" kern="1200" cap="none" spc="-1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kumimoji="0" sz="2800" b="1" kern="1200" cap="none" spc="1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</a:t>
            </a:r>
            <a:r>
              <a:rPr kumimoji="0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</a:t>
            </a:r>
            <a:r>
              <a:rPr kumimoji="0" sz="2800" b="1" kern="1200" cap="none" spc="-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</a:t>
            </a:r>
            <a:r>
              <a:rPr kumimoji="0" sz="2800" b="1" kern="1200" cap="none" spc="-10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</a:t>
            </a:r>
            <a:r>
              <a:rPr kumimoji="0" sz="2800" b="1" kern="1200" cap="none" spc="5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</a:t>
            </a:r>
            <a:r>
              <a:rPr kumimoji="0" sz="2800" b="1" kern="1200" cap="none" spc="-10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</a:t>
            </a:r>
            <a:r>
              <a:rPr kumimoji="0" sz="2800" b="1" kern="1200" cap="none" spc="-15" normalizeH="0" baseline="0" noProof="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习</a:t>
            </a:r>
            <a:endParaRPr kumimoji="0" sz="2800" kern="1200" cap="none" spc="0" normalizeH="0" baseline="0" noProof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7570" marR="0" indent="-457835" defTabSz="914400">
              <a:spcBef>
                <a:spcPts val="675"/>
              </a:spcBef>
              <a:buClrTx/>
              <a:buSzTx/>
              <a:buFont typeface="Wingdings" panose="05000000000000000000"/>
              <a:buChar char=""/>
              <a:tabLst>
                <a:tab pos="876935" algn="l"/>
                <a:tab pos="878205" algn="l"/>
              </a:tabLst>
              <a:defRPr/>
            </a:pPr>
            <a:r>
              <a:rPr kumimoji="0" lang="zh-CN" sz="2800" b="1" kern="1200" cap="none" spc="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教学节奏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kumimoji="0" lang="en-US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反复练习</a:t>
            </a:r>
            <a:r>
              <a:rPr kumimoji="0" sz="2800" b="1" kern="1200" cap="none" spc="-5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kumimoji="0" lang="zh-CN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进度快</a:t>
            </a:r>
            <a:r>
              <a:rPr kumimoji="0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kumimoji="0" lang="zh-CN" sz="2800" b="1" kern="1200" cap="none" spc="-1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内容多、例题少</a:t>
            </a:r>
            <a:endParaRPr kumimoji="0" sz="2800" kern="1200" cap="none" spc="0" normalizeH="0" baseline="0" noProof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14"/>
          <p:cNvSpPr txBox="1"/>
          <p:nvPr/>
        </p:nvSpPr>
        <p:spPr>
          <a:xfrm>
            <a:off x="2613025" y="1404938"/>
            <a:ext cx="6213475" cy="522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sz="2800" b="1" kern="1200" cap="none" spc="-10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大</a:t>
            </a:r>
            <a:r>
              <a:rPr kumimoji="0" sz="2800" b="1" kern="1200" cap="none" spc="5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学</a:t>
            </a:r>
            <a:r>
              <a:rPr kumimoji="0" sz="2800" b="1" kern="1200" cap="none" spc="-10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物理绝</a:t>
            </a:r>
            <a:r>
              <a:rPr kumimoji="0" sz="2800" b="1" kern="1200" cap="none" spc="5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对</a:t>
            </a:r>
            <a:r>
              <a:rPr kumimoji="0" sz="2800" b="1" kern="1200" cap="none" spc="-10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不是中</a:t>
            </a:r>
            <a:r>
              <a:rPr kumimoji="0" sz="2800" b="1" kern="1200" cap="none" spc="5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学</a:t>
            </a:r>
            <a:r>
              <a:rPr kumimoji="0" sz="2800" b="1" kern="1200" cap="none" spc="-10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物理的</a:t>
            </a:r>
            <a:r>
              <a:rPr kumimoji="0" sz="2800" b="1" kern="1200" cap="none" spc="5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简</a:t>
            </a:r>
            <a:r>
              <a:rPr kumimoji="0" sz="2800" b="1" kern="1200" cap="none" spc="-10" normalizeH="0" baseline="0" noProof="0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单重复</a:t>
            </a:r>
            <a:endParaRPr kumimoji="0" lang="zh-CN" altLang="en-US" sz="2800" b="1" kern="1200" cap="none" spc="-10" normalizeH="0" baseline="0" noProof="0" dirty="0">
              <a:solidFill>
                <a:srgbClr val="539A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6" name="object 3"/>
          <p:cNvSpPr/>
          <p:nvPr/>
        </p:nvSpPr>
        <p:spPr>
          <a:xfrm>
            <a:off x="1352550" y="5016500"/>
            <a:ext cx="1658938" cy="71438"/>
          </a:xfrm>
          <a:custGeom>
            <a:avLst/>
            <a:gdLst>
              <a:gd name="txL" fmla="*/ 0 w 1658620"/>
              <a:gd name="txT" fmla="*/ 0 h 70484"/>
              <a:gd name="txR" fmla="*/ 1658620 w 1658620"/>
              <a:gd name="txB" fmla="*/ 70484 h 70484"/>
            </a:gdLst>
            <a:ahLst/>
            <a:cxnLst/>
            <a:rect l="txL" t="txT" r="txR" b="txB"/>
            <a:pathLst>
              <a:path w="1658620" h="70484">
                <a:moveTo>
                  <a:pt x="1658112" y="0"/>
                </a:moveTo>
                <a:lnTo>
                  <a:pt x="0" y="0"/>
                </a:lnTo>
                <a:lnTo>
                  <a:pt x="69977" y="69976"/>
                </a:lnTo>
                <a:lnTo>
                  <a:pt x="1588135" y="69976"/>
                </a:lnTo>
                <a:lnTo>
                  <a:pt x="1658112" y="0"/>
                </a:lnTo>
                <a:close/>
              </a:path>
            </a:pathLst>
          </a:custGeom>
          <a:solidFill>
            <a:srgbClr val="FFCC31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7" name="object 4"/>
          <p:cNvSpPr/>
          <p:nvPr/>
        </p:nvSpPr>
        <p:spPr>
          <a:xfrm>
            <a:off x="1352550" y="6340475"/>
            <a:ext cx="1658938" cy="69850"/>
          </a:xfrm>
          <a:custGeom>
            <a:avLst/>
            <a:gdLst>
              <a:gd name="txL" fmla="*/ 0 w 1658620"/>
              <a:gd name="txT" fmla="*/ 0 h 70485"/>
              <a:gd name="txR" fmla="*/ 1658620 w 1658620"/>
              <a:gd name="txB" fmla="*/ 70485 h 70485"/>
            </a:gdLst>
            <a:ahLst/>
            <a:cxnLst/>
            <a:rect l="txL" t="txT" r="txR" b="txB"/>
            <a:pathLst>
              <a:path w="1658620" h="70485">
                <a:moveTo>
                  <a:pt x="1588135" y="0"/>
                </a:moveTo>
                <a:lnTo>
                  <a:pt x="69977" y="0"/>
                </a:lnTo>
                <a:lnTo>
                  <a:pt x="0" y="69976"/>
                </a:lnTo>
                <a:lnTo>
                  <a:pt x="1658112" y="69976"/>
                </a:lnTo>
                <a:lnTo>
                  <a:pt x="1588135" y="0"/>
                </a:lnTo>
                <a:close/>
              </a:path>
            </a:pathLst>
          </a:custGeom>
          <a:solidFill>
            <a:srgbClr val="CD9A00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8" name="object 5"/>
          <p:cNvSpPr/>
          <p:nvPr/>
        </p:nvSpPr>
        <p:spPr>
          <a:xfrm>
            <a:off x="1352550" y="5016500"/>
            <a:ext cx="69850" cy="1393825"/>
          </a:xfrm>
          <a:custGeom>
            <a:avLst/>
            <a:gdLst>
              <a:gd name="txL" fmla="*/ 0 w 70484"/>
              <a:gd name="txT" fmla="*/ 0 h 1393189"/>
              <a:gd name="txR" fmla="*/ 70484 w 70484"/>
              <a:gd name="txB" fmla="*/ 1393189 h 1393189"/>
            </a:gdLst>
            <a:ahLst/>
            <a:cxnLst/>
            <a:rect l="txL" t="txT" r="txR" b="txB"/>
            <a:pathLst>
              <a:path w="70484" h="1393189">
                <a:moveTo>
                  <a:pt x="0" y="0"/>
                </a:moveTo>
                <a:lnTo>
                  <a:pt x="0" y="1392936"/>
                </a:lnTo>
                <a:lnTo>
                  <a:pt x="69977" y="1322959"/>
                </a:lnTo>
                <a:lnTo>
                  <a:pt x="69977" y="69976"/>
                </a:lnTo>
                <a:lnTo>
                  <a:pt x="0" y="0"/>
                </a:lnTo>
                <a:close/>
              </a:path>
            </a:pathLst>
          </a:custGeom>
          <a:solidFill>
            <a:srgbClr val="FFD966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9" name="object 6"/>
          <p:cNvSpPr/>
          <p:nvPr/>
        </p:nvSpPr>
        <p:spPr>
          <a:xfrm>
            <a:off x="2940050" y="5016500"/>
            <a:ext cx="71438" cy="1393825"/>
          </a:xfrm>
          <a:custGeom>
            <a:avLst/>
            <a:gdLst>
              <a:gd name="txL" fmla="*/ 0 w 70485"/>
              <a:gd name="txT" fmla="*/ 0 h 1393189"/>
              <a:gd name="txR" fmla="*/ 70485 w 70485"/>
              <a:gd name="txB" fmla="*/ 1393189 h 1393189"/>
            </a:gdLst>
            <a:ahLst/>
            <a:cxnLst/>
            <a:rect l="txL" t="txT" r="txR" b="txB"/>
            <a:pathLst>
              <a:path w="70485" h="1393189">
                <a:moveTo>
                  <a:pt x="69976" y="0"/>
                </a:moveTo>
                <a:lnTo>
                  <a:pt x="0" y="69976"/>
                </a:lnTo>
                <a:lnTo>
                  <a:pt x="0" y="1322959"/>
                </a:lnTo>
                <a:lnTo>
                  <a:pt x="69976" y="1392936"/>
                </a:lnTo>
                <a:lnTo>
                  <a:pt x="69976" y="0"/>
                </a:lnTo>
                <a:close/>
              </a:path>
            </a:pathLst>
          </a:custGeom>
          <a:solidFill>
            <a:srgbClr val="997300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" name="object 7"/>
          <p:cNvSpPr/>
          <p:nvPr/>
        </p:nvSpPr>
        <p:spPr>
          <a:xfrm>
            <a:off x="1352550" y="5016500"/>
            <a:ext cx="1658938" cy="1393825"/>
          </a:xfrm>
          <a:custGeom>
            <a:avLst/>
            <a:gdLst>
              <a:gd name="txL" fmla="*/ 0 w 1658620"/>
              <a:gd name="txT" fmla="*/ 0 h 1393189"/>
              <a:gd name="txR" fmla="*/ 1658620 w 1658620"/>
              <a:gd name="txB" fmla="*/ 1393189 h 1393189"/>
            </a:gdLst>
            <a:ahLst/>
            <a:cxnLst/>
            <a:rect l="txL" t="txT" r="txR" b="txB"/>
            <a:pathLst>
              <a:path w="1658620" h="1393189">
                <a:moveTo>
                  <a:pt x="0" y="0"/>
                </a:moveTo>
                <a:lnTo>
                  <a:pt x="1658112" y="0"/>
                </a:lnTo>
                <a:lnTo>
                  <a:pt x="1658112" y="1392936"/>
                </a:lnTo>
                <a:lnTo>
                  <a:pt x="0" y="1392936"/>
                </a:lnTo>
                <a:lnTo>
                  <a:pt x="0" y="0"/>
                </a:lnTo>
                <a:close/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1" name="object 8"/>
          <p:cNvSpPr/>
          <p:nvPr/>
        </p:nvSpPr>
        <p:spPr>
          <a:xfrm>
            <a:off x="1352550" y="5016500"/>
            <a:ext cx="69850" cy="71438"/>
          </a:xfrm>
          <a:custGeom>
            <a:avLst/>
            <a:gdLst>
              <a:gd name="txL" fmla="*/ 0 w 70484"/>
              <a:gd name="txT" fmla="*/ 0 h 70484"/>
              <a:gd name="txR" fmla="*/ 70484 w 70484"/>
              <a:gd name="txB" fmla="*/ 70484 h 70484"/>
            </a:gdLst>
            <a:ahLst/>
            <a:cxnLst/>
            <a:rect l="txL" t="txT" r="txR" b="txB"/>
            <a:pathLst>
              <a:path w="70484" h="70484">
                <a:moveTo>
                  <a:pt x="0" y="0"/>
                </a:moveTo>
                <a:lnTo>
                  <a:pt x="69977" y="69976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2" name="object 9"/>
          <p:cNvSpPr/>
          <p:nvPr/>
        </p:nvSpPr>
        <p:spPr>
          <a:xfrm>
            <a:off x="1352550" y="6340475"/>
            <a:ext cx="69850" cy="69850"/>
          </a:xfrm>
          <a:custGeom>
            <a:avLst/>
            <a:gdLst>
              <a:gd name="txL" fmla="*/ 0 w 70484"/>
              <a:gd name="txT" fmla="*/ 0 h 70485"/>
              <a:gd name="txR" fmla="*/ 70484 w 70484"/>
              <a:gd name="txB" fmla="*/ 70485 h 70485"/>
            </a:gdLst>
            <a:ahLst/>
            <a:cxnLst/>
            <a:rect l="txL" t="txT" r="txR" b="txB"/>
            <a:pathLst>
              <a:path w="70484" h="70485">
                <a:moveTo>
                  <a:pt x="0" y="69976"/>
                </a:moveTo>
                <a:lnTo>
                  <a:pt x="69977" y="0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3" name="object 10"/>
          <p:cNvSpPr/>
          <p:nvPr/>
        </p:nvSpPr>
        <p:spPr>
          <a:xfrm>
            <a:off x="2940050" y="5016500"/>
            <a:ext cx="71438" cy="71438"/>
          </a:xfrm>
          <a:custGeom>
            <a:avLst/>
            <a:gdLst>
              <a:gd name="txL" fmla="*/ 0 w 70485"/>
              <a:gd name="txT" fmla="*/ 0 h 70484"/>
              <a:gd name="txR" fmla="*/ 70485 w 70485"/>
              <a:gd name="txB" fmla="*/ 70484 h 70484"/>
            </a:gdLst>
            <a:ahLst/>
            <a:cxnLst/>
            <a:rect l="txL" t="txT" r="txR" b="txB"/>
            <a:pathLst>
              <a:path w="70485" h="70484">
                <a:moveTo>
                  <a:pt x="69976" y="0"/>
                </a:moveTo>
                <a:lnTo>
                  <a:pt x="0" y="69976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4" name="object 11"/>
          <p:cNvSpPr/>
          <p:nvPr/>
        </p:nvSpPr>
        <p:spPr>
          <a:xfrm>
            <a:off x="2940050" y="6340475"/>
            <a:ext cx="71438" cy="69850"/>
          </a:xfrm>
          <a:custGeom>
            <a:avLst/>
            <a:gdLst>
              <a:gd name="txL" fmla="*/ 0 w 70485"/>
              <a:gd name="txT" fmla="*/ 0 h 70485"/>
              <a:gd name="txR" fmla="*/ 70485 w 70485"/>
              <a:gd name="txB" fmla="*/ 70485 h 70485"/>
            </a:gdLst>
            <a:ahLst/>
            <a:cxnLst/>
            <a:rect l="txL" t="txT" r="txR" b="txB"/>
            <a:pathLst>
              <a:path w="70485" h="70485">
                <a:moveTo>
                  <a:pt x="69976" y="69976"/>
                </a:moveTo>
                <a:lnTo>
                  <a:pt x="0" y="0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5" name="object 12"/>
          <p:cNvSpPr txBox="1"/>
          <p:nvPr/>
        </p:nvSpPr>
        <p:spPr>
          <a:xfrm>
            <a:off x="1422400" y="5086350"/>
            <a:ext cx="1517650" cy="1254125"/>
          </a:xfrm>
          <a:prstGeom prst="rect">
            <a:avLst/>
          </a:prstGeom>
          <a:solidFill>
            <a:srgbClr val="FFC000"/>
          </a:solidFill>
          <a:ln w="9144">
            <a:solidFill>
              <a:srgbClr val="000000"/>
            </a:solidFill>
          </a:ln>
        </p:spPr>
        <p:txBody>
          <a:bodyPr vert="horz" wrap="square" lIns="0" tIns="125730" rIns="0" bIns="0" rtlCol="0">
            <a:spAutoFit/>
          </a:bodyPr>
          <a:p>
            <a:pPr marL="53975">
              <a:spcBef>
                <a:spcPts val="990"/>
              </a:spcBef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物理概念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3975">
              <a:spcBef>
                <a:spcPts val="1690"/>
              </a:spcBef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（核心）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object 13"/>
          <p:cNvSpPr/>
          <p:nvPr/>
        </p:nvSpPr>
        <p:spPr>
          <a:xfrm>
            <a:off x="3787775" y="5016500"/>
            <a:ext cx="1657350" cy="71438"/>
          </a:xfrm>
          <a:custGeom>
            <a:avLst/>
            <a:gdLst>
              <a:gd name="txL" fmla="*/ 0 w 1656714"/>
              <a:gd name="txT" fmla="*/ 0 h 70484"/>
              <a:gd name="txR" fmla="*/ 1656714 w 1656714"/>
              <a:gd name="txB" fmla="*/ 70484 h 70484"/>
            </a:gdLst>
            <a:ahLst/>
            <a:cxnLst/>
            <a:rect l="txL" t="txT" r="txR" b="txB"/>
            <a:pathLst>
              <a:path w="1656714" h="70484">
                <a:moveTo>
                  <a:pt x="1656588" y="0"/>
                </a:moveTo>
                <a:lnTo>
                  <a:pt x="0" y="0"/>
                </a:lnTo>
                <a:lnTo>
                  <a:pt x="69977" y="69976"/>
                </a:lnTo>
                <a:lnTo>
                  <a:pt x="1586611" y="69976"/>
                </a:lnTo>
                <a:lnTo>
                  <a:pt x="1656588" y="0"/>
                </a:lnTo>
                <a:close/>
              </a:path>
            </a:pathLst>
          </a:custGeom>
          <a:solidFill>
            <a:srgbClr val="FFCC31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7" name="object 14"/>
          <p:cNvSpPr/>
          <p:nvPr/>
        </p:nvSpPr>
        <p:spPr>
          <a:xfrm>
            <a:off x="3787775" y="6340475"/>
            <a:ext cx="1657350" cy="69850"/>
          </a:xfrm>
          <a:custGeom>
            <a:avLst/>
            <a:gdLst>
              <a:gd name="txL" fmla="*/ 0 w 1656714"/>
              <a:gd name="txT" fmla="*/ 0 h 70485"/>
              <a:gd name="txR" fmla="*/ 1656714 w 1656714"/>
              <a:gd name="txB" fmla="*/ 70485 h 70485"/>
            </a:gdLst>
            <a:ahLst/>
            <a:cxnLst/>
            <a:rect l="txL" t="txT" r="txR" b="txB"/>
            <a:pathLst>
              <a:path w="1656714" h="70485">
                <a:moveTo>
                  <a:pt x="1586611" y="0"/>
                </a:moveTo>
                <a:lnTo>
                  <a:pt x="69977" y="0"/>
                </a:lnTo>
                <a:lnTo>
                  <a:pt x="0" y="69976"/>
                </a:lnTo>
                <a:lnTo>
                  <a:pt x="1656588" y="69976"/>
                </a:lnTo>
                <a:lnTo>
                  <a:pt x="1586611" y="0"/>
                </a:lnTo>
                <a:close/>
              </a:path>
            </a:pathLst>
          </a:custGeom>
          <a:solidFill>
            <a:srgbClr val="CD9A00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8" name="object 15"/>
          <p:cNvSpPr/>
          <p:nvPr/>
        </p:nvSpPr>
        <p:spPr>
          <a:xfrm>
            <a:off x="3787775" y="5016500"/>
            <a:ext cx="69850" cy="1393825"/>
          </a:xfrm>
          <a:custGeom>
            <a:avLst/>
            <a:gdLst>
              <a:gd name="txL" fmla="*/ 0 w 70485"/>
              <a:gd name="txT" fmla="*/ 0 h 1393189"/>
              <a:gd name="txR" fmla="*/ 70485 w 70485"/>
              <a:gd name="txB" fmla="*/ 1393189 h 1393189"/>
            </a:gdLst>
            <a:ahLst/>
            <a:cxnLst/>
            <a:rect l="txL" t="txT" r="txR" b="txB"/>
            <a:pathLst>
              <a:path w="70485" h="1393189">
                <a:moveTo>
                  <a:pt x="0" y="0"/>
                </a:moveTo>
                <a:lnTo>
                  <a:pt x="0" y="1392936"/>
                </a:lnTo>
                <a:lnTo>
                  <a:pt x="69977" y="1322959"/>
                </a:lnTo>
                <a:lnTo>
                  <a:pt x="69977" y="69976"/>
                </a:lnTo>
                <a:lnTo>
                  <a:pt x="0" y="0"/>
                </a:lnTo>
                <a:close/>
              </a:path>
            </a:pathLst>
          </a:custGeom>
          <a:solidFill>
            <a:srgbClr val="FFD966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9" name="object 16"/>
          <p:cNvSpPr/>
          <p:nvPr/>
        </p:nvSpPr>
        <p:spPr>
          <a:xfrm>
            <a:off x="5373688" y="5016500"/>
            <a:ext cx="71437" cy="1393825"/>
          </a:xfrm>
          <a:custGeom>
            <a:avLst/>
            <a:gdLst>
              <a:gd name="txL" fmla="*/ 0 w 70485"/>
              <a:gd name="txT" fmla="*/ 0 h 1393189"/>
              <a:gd name="txR" fmla="*/ 70485 w 70485"/>
              <a:gd name="txB" fmla="*/ 1393189 h 1393189"/>
            </a:gdLst>
            <a:ahLst/>
            <a:cxnLst/>
            <a:rect l="txL" t="txT" r="txR" b="txB"/>
            <a:pathLst>
              <a:path w="70485" h="1393189">
                <a:moveTo>
                  <a:pt x="69976" y="0"/>
                </a:moveTo>
                <a:lnTo>
                  <a:pt x="0" y="69976"/>
                </a:lnTo>
                <a:lnTo>
                  <a:pt x="0" y="1322959"/>
                </a:lnTo>
                <a:lnTo>
                  <a:pt x="69976" y="1392936"/>
                </a:lnTo>
                <a:lnTo>
                  <a:pt x="69976" y="0"/>
                </a:lnTo>
                <a:close/>
              </a:path>
            </a:pathLst>
          </a:custGeom>
          <a:solidFill>
            <a:srgbClr val="997300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0" name="object 17"/>
          <p:cNvSpPr/>
          <p:nvPr/>
        </p:nvSpPr>
        <p:spPr>
          <a:xfrm>
            <a:off x="3787775" y="5016500"/>
            <a:ext cx="1657350" cy="1393825"/>
          </a:xfrm>
          <a:custGeom>
            <a:avLst/>
            <a:gdLst>
              <a:gd name="txL" fmla="*/ 0 w 1656714"/>
              <a:gd name="txT" fmla="*/ 0 h 1393189"/>
              <a:gd name="txR" fmla="*/ 1656714 w 1656714"/>
              <a:gd name="txB" fmla="*/ 1393189 h 1393189"/>
            </a:gdLst>
            <a:ahLst/>
            <a:cxnLst/>
            <a:rect l="txL" t="txT" r="txR" b="txB"/>
            <a:pathLst>
              <a:path w="1656714" h="1393189">
                <a:moveTo>
                  <a:pt x="0" y="0"/>
                </a:moveTo>
                <a:lnTo>
                  <a:pt x="1656588" y="0"/>
                </a:lnTo>
                <a:lnTo>
                  <a:pt x="1656588" y="1392936"/>
                </a:lnTo>
                <a:lnTo>
                  <a:pt x="0" y="1392936"/>
                </a:lnTo>
                <a:lnTo>
                  <a:pt x="0" y="0"/>
                </a:lnTo>
                <a:close/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1" name="object 18"/>
          <p:cNvSpPr/>
          <p:nvPr/>
        </p:nvSpPr>
        <p:spPr>
          <a:xfrm>
            <a:off x="3787775" y="5016500"/>
            <a:ext cx="69850" cy="71438"/>
          </a:xfrm>
          <a:custGeom>
            <a:avLst/>
            <a:gdLst>
              <a:gd name="txL" fmla="*/ 0 w 70485"/>
              <a:gd name="txT" fmla="*/ 0 h 70484"/>
              <a:gd name="txR" fmla="*/ 70485 w 70485"/>
              <a:gd name="txB" fmla="*/ 70484 h 70484"/>
            </a:gdLst>
            <a:ahLst/>
            <a:cxnLst/>
            <a:rect l="txL" t="txT" r="txR" b="txB"/>
            <a:pathLst>
              <a:path w="70485" h="70484">
                <a:moveTo>
                  <a:pt x="0" y="0"/>
                </a:moveTo>
                <a:lnTo>
                  <a:pt x="69977" y="69976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2" name="object 19"/>
          <p:cNvSpPr/>
          <p:nvPr/>
        </p:nvSpPr>
        <p:spPr>
          <a:xfrm>
            <a:off x="3787775" y="6340475"/>
            <a:ext cx="69850" cy="69850"/>
          </a:xfrm>
          <a:custGeom>
            <a:avLst/>
            <a:gdLst>
              <a:gd name="txL" fmla="*/ 0 w 70485"/>
              <a:gd name="txT" fmla="*/ 0 h 70485"/>
              <a:gd name="txR" fmla="*/ 70485 w 70485"/>
              <a:gd name="txB" fmla="*/ 70485 h 70485"/>
            </a:gdLst>
            <a:ahLst/>
            <a:cxnLst/>
            <a:rect l="txL" t="txT" r="txR" b="txB"/>
            <a:pathLst>
              <a:path w="70485" h="70485">
                <a:moveTo>
                  <a:pt x="0" y="69976"/>
                </a:moveTo>
                <a:lnTo>
                  <a:pt x="69977" y="0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3" name="object 20"/>
          <p:cNvSpPr/>
          <p:nvPr/>
        </p:nvSpPr>
        <p:spPr>
          <a:xfrm>
            <a:off x="5373688" y="5016500"/>
            <a:ext cx="71437" cy="71438"/>
          </a:xfrm>
          <a:custGeom>
            <a:avLst/>
            <a:gdLst>
              <a:gd name="txL" fmla="*/ 0 w 70485"/>
              <a:gd name="txT" fmla="*/ 0 h 70484"/>
              <a:gd name="txR" fmla="*/ 70485 w 70485"/>
              <a:gd name="txB" fmla="*/ 70484 h 70484"/>
            </a:gdLst>
            <a:ahLst/>
            <a:cxnLst/>
            <a:rect l="txL" t="txT" r="txR" b="txB"/>
            <a:pathLst>
              <a:path w="70485" h="70484">
                <a:moveTo>
                  <a:pt x="69976" y="0"/>
                </a:moveTo>
                <a:lnTo>
                  <a:pt x="0" y="69976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4" name="object 21"/>
          <p:cNvSpPr/>
          <p:nvPr/>
        </p:nvSpPr>
        <p:spPr>
          <a:xfrm>
            <a:off x="5373688" y="6340475"/>
            <a:ext cx="71437" cy="69850"/>
          </a:xfrm>
          <a:custGeom>
            <a:avLst/>
            <a:gdLst>
              <a:gd name="txL" fmla="*/ 0 w 70485"/>
              <a:gd name="txT" fmla="*/ 0 h 70485"/>
              <a:gd name="txR" fmla="*/ 70485 w 70485"/>
              <a:gd name="txB" fmla="*/ 70485 h 70485"/>
            </a:gdLst>
            <a:ahLst/>
            <a:cxnLst/>
            <a:rect l="txL" t="txT" r="txR" b="txB"/>
            <a:pathLst>
              <a:path w="70485" h="70485">
                <a:moveTo>
                  <a:pt x="69976" y="69976"/>
                </a:moveTo>
                <a:lnTo>
                  <a:pt x="0" y="0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5" name="object 22"/>
          <p:cNvSpPr txBox="1"/>
          <p:nvPr/>
        </p:nvSpPr>
        <p:spPr>
          <a:xfrm>
            <a:off x="3857625" y="5086350"/>
            <a:ext cx="1517650" cy="1254125"/>
          </a:xfrm>
          <a:prstGeom prst="rect">
            <a:avLst/>
          </a:prstGeom>
          <a:solidFill>
            <a:srgbClr val="FFC000"/>
          </a:solidFill>
          <a:ln w="914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p>
            <a:pPr>
              <a:spcBef>
                <a:spcPts val="15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物理模型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object 23"/>
          <p:cNvSpPr/>
          <p:nvPr/>
        </p:nvSpPr>
        <p:spPr>
          <a:xfrm>
            <a:off x="6288088" y="5049838"/>
            <a:ext cx="1657350" cy="71437"/>
          </a:xfrm>
          <a:custGeom>
            <a:avLst/>
            <a:gdLst>
              <a:gd name="txL" fmla="*/ 0 w 1656715"/>
              <a:gd name="txT" fmla="*/ 0 h 70484"/>
              <a:gd name="txR" fmla="*/ 1656715 w 1656715"/>
              <a:gd name="txB" fmla="*/ 70484 h 70484"/>
            </a:gdLst>
            <a:ahLst/>
            <a:cxnLst/>
            <a:rect l="txL" t="txT" r="txR" b="txB"/>
            <a:pathLst>
              <a:path w="1656715" h="70484">
                <a:moveTo>
                  <a:pt x="1656588" y="0"/>
                </a:moveTo>
                <a:lnTo>
                  <a:pt x="0" y="0"/>
                </a:lnTo>
                <a:lnTo>
                  <a:pt x="69976" y="69976"/>
                </a:lnTo>
                <a:lnTo>
                  <a:pt x="1586611" y="69976"/>
                </a:lnTo>
                <a:lnTo>
                  <a:pt x="1656588" y="0"/>
                </a:lnTo>
                <a:close/>
              </a:path>
            </a:pathLst>
          </a:custGeom>
          <a:solidFill>
            <a:srgbClr val="FFCC31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7" name="object 24"/>
          <p:cNvSpPr/>
          <p:nvPr/>
        </p:nvSpPr>
        <p:spPr>
          <a:xfrm>
            <a:off x="6288088" y="6373813"/>
            <a:ext cx="1657350" cy="69850"/>
          </a:xfrm>
          <a:custGeom>
            <a:avLst/>
            <a:gdLst>
              <a:gd name="txL" fmla="*/ 0 w 1656715"/>
              <a:gd name="txT" fmla="*/ 0 h 70485"/>
              <a:gd name="txR" fmla="*/ 1656715 w 1656715"/>
              <a:gd name="txB" fmla="*/ 70485 h 70485"/>
            </a:gdLst>
            <a:ahLst/>
            <a:cxnLst/>
            <a:rect l="txL" t="txT" r="txR" b="txB"/>
            <a:pathLst>
              <a:path w="1656715" h="70485">
                <a:moveTo>
                  <a:pt x="1586611" y="0"/>
                </a:moveTo>
                <a:lnTo>
                  <a:pt x="69976" y="0"/>
                </a:lnTo>
                <a:lnTo>
                  <a:pt x="0" y="69976"/>
                </a:lnTo>
                <a:lnTo>
                  <a:pt x="1656588" y="69976"/>
                </a:lnTo>
                <a:lnTo>
                  <a:pt x="1586611" y="0"/>
                </a:lnTo>
                <a:close/>
              </a:path>
            </a:pathLst>
          </a:custGeom>
          <a:solidFill>
            <a:srgbClr val="CD9A00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8" name="object 25"/>
          <p:cNvSpPr/>
          <p:nvPr/>
        </p:nvSpPr>
        <p:spPr>
          <a:xfrm>
            <a:off x="6288088" y="5049838"/>
            <a:ext cx="71437" cy="1393825"/>
          </a:xfrm>
          <a:custGeom>
            <a:avLst/>
            <a:gdLst>
              <a:gd name="txL" fmla="*/ 0 w 70485"/>
              <a:gd name="txT" fmla="*/ 0 h 1393189"/>
              <a:gd name="txR" fmla="*/ 70485 w 70485"/>
              <a:gd name="txB" fmla="*/ 1393189 h 1393189"/>
            </a:gdLst>
            <a:ahLst/>
            <a:cxnLst/>
            <a:rect l="txL" t="txT" r="txR" b="txB"/>
            <a:pathLst>
              <a:path w="70485" h="1393189">
                <a:moveTo>
                  <a:pt x="0" y="0"/>
                </a:moveTo>
                <a:lnTo>
                  <a:pt x="0" y="1392936"/>
                </a:lnTo>
                <a:lnTo>
                  <a:pt x="69976" y="1322959"/>
                </a:lnTo>
                <a:lnTo>
                  <a:pt x="69976" y="69976"/>
                </a:lnTo>
                <a:lnTo>
                  <a:pt x="0" y="0"/>
                </a:lnTo>
                <a:close/>
              </a:path>
            </a:pathLst>
          </a:custGeom>
          <a:solidFill>
            <a:srgbClr val="FFD966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29" name="object 26"/>
          <p:cNvSpPr/>
          <p:nvPr/>
        </p:nvSpPr>
        <p:spPr>
          <a:xfrm>
            <a:off x="7875588" y="5049838"/>
            <a:ext cx="69850" cy="1393825"/>
          </a:xfrm>
          <a:custGeom>
            <a:avLst/>
            <a:gdLst>
              <a:gd name="txL" fmla="*/ 0 w 70484"/>
              <a:gd name="txT" fmla="*/ 0 h 1393189"/>
              <a:gd name="txR" fmla="*/ 70484 w 70484"/>
              <a:gd name="txB" fmla="*/ 1393189 h 1393189"/>
            </a:gdLst>
            <a:ahLst/>
            <a:cxnLst/>
            <a:rect l="txL" t="txT" r="txR" b="txB"/>
            <a:pathLst>
              <a:path w="70484" h="1393189">
                <a:moveTo>
                  <a:pt x="69976" y="0"/>
                </a:moveTo>
                <a:lnTo>
                  <a:pt x="0" y="69976"/>
                </a:lnTo>
                <a:lnTo>
                  <a:pt x="0" y="1322959"/>
                </a:lnTo>
                <a:lnTo>
                  <a:pt x="69976" y="1392936"/>
                </a:lnTo>
                <a:lnTo>
                  <a:pt x="69976" y="0"/>
                </a:lnTo>
                <a:close/>
              </a:path>
            </a:pathLst>
          </a:custGeom>
          <a:solidFill>
            <a:srgbClr val="997300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0" name="object 27"/>
          <p:cNvSpPr/>
          <p:nvPr/>
        </p:nvSpPr>
        <p:spPr>
          <a:xfrm>
            <a:off x="6288088" y="5049838"/>
            <a:ext cx="1657350" cy="1393825"/>
          </a:xfrm>
          <a:custGeom>
            <a:avLst/>
            <a:gdLst>
              <a:gd name="txL" fmla="*/ 0 w 1656715"/>
              <a:gd name="txT" fmla="*/ 0 h 1393189"/>
              <a:gd name="txR" fmla="*/ 1656715 w 1656715"/>
              <a:gd name="txB" fmla="*/ 1393189 h 1393189"/>
            </a:gdLst>
            <a:ahLst/>
            <a:cxnLst/>
            <a:rect l="txL" t="txT" r="txR" b="txB"/>
            <a:pathLst>
              <a:path w="1656715" h="1393189">
                <a:moveTo>
                  <a:pt x="0" y="0"/>
                </a:moveTo>
                <a:lnTo>
                  <a:pt x="1656588" y="0"/>
                </a:lnTo>
                <a:lnTo>
                  <a:pt x="1656588" y="1392936"/>
                </a:lnTo>
                <a:lnTo>
                  <a:pt x="0" y="1392936"/>
                </a:lnTo>
                <a:lnTo>
                  <a:pt x="0" y="0"/>
                </a:lnTo>
                <a:close/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1" name="object 28"/>
          <p:cNvSpPr/>
          <p:nvPr/>
        </p:nvSpPr>
        <p:spPr>
          <a:xfrm>
            <a:off x="6288088" y="5049838"/>
            <a:ext cx="71437" cy="71437"/>
          </a:xfrm>
          <a:custGeom>
            <a:avLst/>
            <a:gdLst>
              <a:gd name="txL" fmla="*/ 0 w 70485"/>
              <a:gd name="txT" fmla="*/ 0 h 70484"/>
              <a:gd name="txR" fmla="*/ 70485 w 70485"/>
              <a:gd name="txB" fmla="*/ 70484 h 70484"/>
            </a:gdLst>
            <a:ahLst/>
            <a:cxnLst/>
            <a:rect l="txL" t="txT" r="txR" b="txB"/>
            <a:pathLst>
              <a:path w="70485" h="70484">
                <a:moveTo>
                  <a:pt x="0" y="0"/>
                </a:moveTo>
                <a:lnTo>
                  <a:pt x="69976" y="69976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2" name="object 29"/>
          <p:cNvSpPr/>
          <p:nvPr/>
        </p:nvSpPr>
        <p:spPr>
          <a:xfrm>
            <a:off x="6288088" y="6373813"/>
            <a:ext cx="71437" cy="69850"/>
          </a:xfrm>
          <a:custGeom>
            <a:avLst/>
            <a:gdLst>
              <a:gd name="txL" fmla="*/ 0 w 70485"/>
              <a:gd name="txT" fmla="*/ 0 h 70485"/>
              <a:gd name="txR" fmla="*/ 70485 w 70485"/>
              <a:gd name="txB" fmla="*/ 70485 h 70485"/>
            </a:gdLst>
            <a:ahLst/>
            <a:cxnLst/>
            <a:rect l="txL" t="txT" r="txR" b="txB"/>
            <a:pathLst>
              <a:path w="70485" h="70485">
                <a:moveTo>
                  <a:pt x="0" y="69976"/>
                </a:moveTo>
                <a:lnTo>
                  <a:pt x="69976" y="0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3" name="object 30"/>
          <p:cNvSpPr/>
          <p:nvPr/>
        </p:nvSpPr>
        <p:spPr>
          <a:xfrm>
            <a:off x="7875588" y="5049838"/>
            <a:ext cx="69850" cy="71437"/>
          </a:xfrm>
          <a:custGeom>
            <a:avLst/>
            <a:gdLst>
              <a:gd name="txL" fmla="*/ 0 w 70484"/>
              <a:gd name="txT" fmla="*/ 0 h 70484"/>
              <a:gd name="txR" fmla="*/ 70484 w 70484"/>
              <a:gd name="txB" fmla="*/ 70484 h 70484"/>
            </a:gdLst>
            <a:ahLst/>
            <a:cxnLst/>
            <a:rect l="txL" t="txT" r="txR" b="txB"/>
            <a:pathLst>
              <a:path w="70484" h="70484">
                <a:moveTo>
                  <a:pt x="69976" y="0"/>
                </a:moveTo>
                <a:lnTo>
                  <a:pt x="0" y="69976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4" name="object 31"/>
          <p:cNvSpPr/>
          <p:nvPr/>
        </p:nvSpPr>
        <p:spPr>
          <a:xfrm>
            <a:off x="7875588" y="6373813"/>
            <a:ext cx="69850" cy="69850"/>
          </a:xfrm>
          <a:custGeom>
            <a:avLst/>
            <a:gdLst>
              <a:gd name="txL" fmla="*/ 0 w 70484"/>
              <a:gd name="txT" fmla="*/ 0 h 70485"/>
              <a:gd name="txR" fmla="*/ 70484 w 70484"/>
              <a:gd name="txB" fmla="*/ 70485 h 70485"/>
            </a:gdLst>
            <a:ahLst/>
            <a:cxnLst/>
            <a:rect l="txL" t="txT" r="txR" b="txB"/>
            <a:pathLst>
              <a:path w="70484" h="70485">
                <a:moveTo>
                  <a:pt x="69976" y="69976"/>
                </a:moveTo>
                <a:lnTo>
                  <a:pt x="0" y="0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5" name="object 32"/>
          <p:cNvSpPr txBox="1"/>
          <p:nvPr/>
        </p:nvSpPr>
        <p:spPr>
          <a:xfrm>
            <a:off x="6357938" y="5119688"/>
            <a:ext cx="1517650" cy="1254125"/>
          </a:xfrm>
          <a:prstGeom prst="rect">
            <a:avLst/>
          </a:prstGeom>
          <a:solidFill>
            <a:srgbClr val="FFC000"/>
          </a:solidFill>
          <a:ln w="914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p>
            <a:pPr>
              <a:spcBef>
                <a:spcPts val="15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数学表达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object 33"/>
          <p:cNvSpPr/>
          <p:nvPr/>
        </p:nvSpPr>
        <p:spPr>
          <a:xfrm>
            <a:off x="8756650" y="5038725"/>
            <a:ext cx="1806575" cy="69850"/>
          </a:xfrm>
          <a:custGeom>
            <a:avLst/>
            <a:gdLst>
              <a:gd name="txL" fmla="*/ 0 w 1807845"/>
              <a:gd name="txT" fmla="*/ 0 h 70484"/>
              <a:gd name="txR" fmla="*/ 1807845 w 1807845"/>
              <a:gd name="txB" fmla="*/ 70484 h 70484"/>
            </a:gdLst>
            <a:ahLst/>
            <a:cxnLst/>
            <a:rect l="txL" t="txT" r="txR" b="txB"/>
            <a:pathLst>
              <a:path w="1807845" h="70484">
                <a:moveTo>
                  <a:pt x="1807464" y="0"/>
                </a:moveTo>
                <a:lnTo>
                  <a:pt x="0" y="0"/>
                </a:lnTo>
                <a:lnTo>
                  <a:pt x="70485" y="70485"/>
                </a:lnTo>
                <a:lnTo>
                  <a:pt x="1736978" y="70485"/>
                </a:lnTo>
                <a:lnTo>
                  <a:pt x="1807464" y="0"/>
                </a:lnTo>
                <a:close/>
              </a:path>
            </a:pathLst>
          </a:custGeom>
          <a:solidFill>
            <a:srgbClr val="FFCC31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7" name="object 34"/>
          <p:cNvSpPr/>
          <p:nvPr/>
        </p:nvSpPr>
        <p:spPr>
          <a:xfrm>
            <a:off x="8756650" y="6369050"/>
            <a:ext cx="1806575" cy="71438"/>
          </a:xfrm>
          <a:custGeom>
            <a:avLst/>
            <a:gdLst>
              <a:gd name="txL" fmla="*/ 0 w 1807845"/>
              <a:gd name="txT" fmla="*/ 0 h 70485"/>
              <a:gd name="txR" fmla="*/ 1807845 w 1807845"/>
              <a:gd name="txB" fmla="*/ 70485 h 70485"/>
            </a:gdLst>
            <a:ahLst/>
            <a:cxnLst/>
            <a:rect l="txL" t="txT" r="txR" b="txB"/>
            <a:pathLst>
              <a:path w="1807845" h="70485">
                <a:moveTo>
                  <a:pt x="1736978" y="0"/>
                </a:moveTo>
                <a:lnTo>
                  <a:pt x="70485" y="0"/>
                </a:lnTo>
                <a:lnTo>
                  <a:pt x="0" y="70485"/>
                </a:lnTo>
                <a:lnTo>
                  <a:pt x="1807464" y="70485"/>
                </a:lnTo>
                <a:lnTo>
                  <a:pt x="1736978" y="0"/>
                </a:lnTo>
                <a:close/>
              </a:path>
            </a:pathLst>
          </a:custGeom>
          <a:solidFill>
            <a:srgbClr val="CD9A00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8" name="object 35"/>
          <p:cNvSpPr/>
          <p:nvPr/>
        </p:nvSpPr>
        <p:spPr>
          <a:xfrm>
            <a:off x="8756650" y="5038725"/>
            <a:ext cx="69850" cy="1401763"/>
          </a:xfrm>
          <a:custGeom>
            <a:avLst/>
            <a:gdLst>
              <a:gd name="txL" fmla="*/ 0 w 70484"/>
              <a:gd name="txT" fmla="*/ 0 h 1402080"/>
              <a:gd name="txR" fmla="*/ 70484 w 70484"/>
              <a:gd name="txB" fmla="*/ 1402080 h 1402080"/>
            </a:gdLst>
            <a:ahLst/>
            <a:cxnLst/>
            <a:rect l="txL" t="txT" r="txR" b="txB"/>
            <a:pathLst>
              <a:path w="70484" h="1402080">
                <a:moveTo>
                  <a:pt x="0" y="0"/>
                </a:moveTo>
                <a:lnTo>
                  <a:pt x="0" y="1402079"/>
                </a:lnTo>
                <a:lnTo>
                  <a:pt x="70485" y="1331594"/>
                </a:lnTo>
                <a:lnTo>
                  <a:pt x="70485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FFD966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39" name="object 36"/>
          <p:cNvSpPr/>
          <p:nvPr/>
        </p:nvSpPr>
        <p:spPr>
          <a:xfrm>
            <a:off x="10493375" y="5038725"/>
            <a:ext cx="69850" cy="1401763"/>
          </a:xfrm>
          <a:custGeom>
            <a:avLst/>
            <a:gdLst>
              <a:gd name="txL" fmla="*/ 0 w 70484"/>
              <a:gd name="txT" fmla="*/ 0 h 1402080"/>
              <a:gd name="txR" fmla="*/ 70484 w 70484"/>
              <a:gd name="txB" fmla="*/ 1402080 h 1402080"/>
            </a:gdLst>
            <a:ahLst/>
            <a:cxnLst/>
            <a:rect l="txL" t="txT" r="txR" b="txB"/>
            <a:pathLst>
              <a:path w="70484" h="1402080">
                <a:moveTo>
                  <a:pt x="70485" y="0"/>
                </a:moveTo>
                <a:lnTo>
                  <a:pt x="0" y="70485"/>
                </a:lnTo>
                <a:lnTo>
                  <a:pt x="0" y="1331594"/>
                </a:lnTo>
                <a:lnTo>
                  <a:pt x="70485" y="1402079"/>
                </a:lnTo>
                <a:lnTo>
                  <a:pt x="70485" y="0"/>
                </a:lnTo>
                <a:close/>
              </a:path>
            </a:pathLst>
          </a:custGeom>
          <a:solidFill>
            <a:srgbClr val="997300"/>
          </a:solidFill>
          <a:ln w="9525">
            <a:noFill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0" name="object 37"/>
          <p:cNvSpPr/>
          <p:nvPr/>
        </p:nvSpPr>
        <p:spPr>
          <a:xfrm>
            <a:off x="8756650" y="5038725"/>
            <a:ext cx="1806575" cy="1401763"/>
          </a:xfrm>
          <a:custGeom>
            <a:avLst/>
            <a:gdLst>
              <a:gd name="txL" fmla="*/ 0 w 1807845"/>
              <a:gd name="txT" fmla="*/ 0 h 1402080"/>
              <a:gd name="txR" fmla="*/ 1807845 w 1807845"/>
              <a:gd name="txB" fmla="*/ 1402080 h 1402080"/>
            </a:gdLst>
            <a:ahLst/>
            <a:cxnLst/>
            <a:rect l="txL" t="txT" r="txR" b="txB"/>
            <a:pathLst>
              <a:path w="1807845" h="1402080">
                <a:moveTo>
                  <a:pt x="0" y="0"/>
                </a:moveTo>
                <a:lnTo>
                  <a:pt x="1807464" y="0"/>
                </a:lnTo>
                <a:lnTo>
                  <a:pt x="1807464" y="1402079"/>
                </a:lnTo>
                <a:lnTo>
                  <a:pt x="0" y="1402079"/>
                </a:lnTo>
                <a:lnTo>
                  <a:pt x="0" y="0"/>
                </a:lnTo>
                <a:close/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1" name="object 38"/>
          <p:cNvSpPr/>
          <p:nvPr/>
        </p:nvSpPr>
        <p:spPr>
          <a:xfrm>
            <a:off x="8756650" y="5038725"/>
            <a:ext cx="69850" cy="69850"/>
          </a:xfrm>
          <a:custGeom>
            <a:avLst/>
            <a:gdLst>
              <a:gd name="txL" fmla="*/ 0 w 70484"/>
              <a:gd name="txT" fmla="*/ 0 h 70484"/>
              <a:gd name="txR" fmla="*/ 70484 w 70484"/>
              <a:gd name="txB" fmla="*/ 70484 h 70484"/>
            </a:gdLst>
            <a:ahLst/>
            <a:cxnLst/>
            <a:rect l="txL" t="txT" r="txR" b="txB"/>
            <a:pathLst>
              <a:path w="70484" h="70484">
                <a:moveTo>
                  <a:pt x="0" y="0"/>
                </a:moveTo>
                <a:lnTo>
                  <a:pt x="70485" y="70485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2" name="object 39"/>
          <p:cNvSpPr/>
          <p:nvPr/>
        </p:nvSpPr>
        <p:spPr>
          <a:xfrm>
            <a:off x="8756650" y="6369050"/>
            <a:ext cx="69850" cy="71438"/>
          </a:xfrm>
          <a:custGeom>
            <a:avLst/>
            <a:gdLst>
              <a:gd name="txL" fmla="*/ 0 w 70484"/>
              <a:gd name="txT" fmla="*/ 0 h 70485"/>
              <a:gd name="txR" fmla="*/ 70484 w 70484"/>
              <a:gd name="txB" fmla="*/ 70485 h 70485"/>
            </a:gdLst>
            <a:ahLst/>
            <a:cxnLst/>
            <a:rect l="txL" t="txT" r="txR" b="txB"/>
            <a:pathLst>
              <a:path w="70484" h="70485">
                <a:moveTo>
                  <a:pt x="0" y="70485"/>
                </a:moveTo>
                <a:lnTo>
                  <a:pt x="70485" y="0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3" name="object 40"/>
          <p:cNvSpPr/>
          <p:nvPr/>
        </p:nvSpPr>
        <p:spPr>
          <a:xfrm>
            <a:off x="10493375" y="5038725"/>
            <a:ext cx="69850" cy="69850"/>
          </a:xfrm>
          <a:custGeom>
            <a:avLst/>
            <a:gdLst>
              <a:gd name="txL" fmla="*/ 0 w 70484"/>
              <a:gd name="txT" fmla="*/ 0 h 70484"/>
              <a:gd name="txR" fmla="*/ 70484 w 70484"/>
              <a:gd name="txB" fmla="*/ 70484 h 70484"/>
            </a:gdLst>
            <a:ahLst/>
            <a:cxnLst/>
            <a:rect l="txL" t="txT" r="txR" b="txB"/>
            <a:pathLst>
              <a:path w="70484" h="70484">
                <a:moveTo>
                  <a:pt x="70485" y="0"/>
                </a:moveTo>
                <a:lnTo>
                  <a:pt x="0" y="70485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4" name="object 41"/>
          <p:cNvSpPr/>
          <p:nvPr/>
        </p:nvSpPr>
        <p:spPr>
          <a:xfrm>
            <a:off x="10493375" y="6369050"/>
            <a:ext cx="69850" cy="71438"/>
          </a:xfrm>
          <a:custGeom>
            <a:avLst/>
            <a:gdLst>
              <a:gd name="txL" fmla="*/ 0 w 70484"/>
              <a:gd name="txT" fmla="*/ 0 h 70485"/>
              <a:gd name="txR" fmla="*/ 70484 w 70484"/>
              <a:gd name="txB" fmla="*/ 70485 h 70485"/>
            </a:gdLst>
            <a:ahLst/>
            <a:cxnLst/>
            <a:rect l="txL" t="txT" r="txR" b="txB"/>
            <a:pathLst>
              <a:path w="70484" h="70485">
                <a:moveTo>
                  <a:pt x="70485" y="70485"/>
                </a:moveTo>
                <a:lnTo>
                  <a:pt x="0" y="0"/>
                </a:lnTo>
              </a:path>
            </a:pathLst>
          </a:custGeom>
          <a:noFill/>
          <a:ln w="9144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5" name="object 42"/>
          <p:cNvSpPr txBox="1"/>
          <p:nvPr/>
        </p:nvSpPr>
        <p:spPr>
          <a:xfrm>
            <a:off x="8826500" y="5108575"/>
            <a:ext cx="1666875" cy="1260475"/>
          </a:xfrm>
          <a:prstGeom prst="rect">
            <a:avLst/>
          </a:prstGeom>
          <a:solidFill>
            <a:srgbClr val="FFC000"/>
          </a:solidFill>
          <a:ln w="9144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p>
            <a:pPr marL="109855">
              <a:spcBef>
                <a:spcPts val="815"/>
              </a:spcBef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研究方法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9855">
              <a:spcBef>
                <a:spcPts val="1675"/>
              </a:spcBef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适用条件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object 43"/>
          <p:cNvSpPr/>
          <p:nvPr/>
        </p:nvSpPr>
        <p:spPr>
          <a:xfrm>
            <a:off x="3189288" y="5748338"/>
            <a:ext cx="304800" cy="0"/>
          </a:xfrm>
          <a:custGeom>
            <a:avLst/>
            <a:gdLst>
              <a:gd name="txL" fmla="*/ 0 w 304800"/>
              <a:gd name="txT" fmla="*/ 0 h 0"/>
              <a:gd name="txR" fmla="*/ 304800 w 304800"/>
              <a:gd name="txB" fmla="*/ 0 h 0"/>
            </a:gdLst>
            <a:ahLst/>
            <a:cxnLst/>
            <a:rect l="txL" t="txT" r="txR" b="tx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32004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7" name="object 44"/>
          <p:cNvSpPr/>
          <p:nvPr/>
        </p:nvSpPr>
        <p:spPr>
          <a:xfrm>
            <a:off x="3341688" y="5595938"/>
            <a:ext cx="0" cy="304800"/>
          </a:xfrm>
          <a:custGeom>
            <a:avLst/>
            <a:gdLst>
              <a:gd name="txL" fmla="*/ 0 w 0"/>
              <a:gd name="txT" fmla="*/ 0 h 304800"/>
              <a:gd name="txR" fmla="*/ 0 w 0"/>
              <a:gd name="txB" fmla="*/ 304800 h 304800"/>
            </a:gdLst>
            <a:ahLst/>
            <a:cxnLst/>
            <a:rect l="txL" t="txT" r="txR" b="tx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32004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8" name="object 45"/>
          <p:cNvSpPr/>
          <p:nvPr/>
        </p:nvSpPr>
        <p:spPr>
          <a:xfrm>
            <a:off x="5773738" y="5748338"/>
            <a:ext cx="304800" cy="0"/>
          </a:xfrm>
          <a:custGeom>
            <a:avLst/>
            <a:gdLst>
              <a:gd name="txL" fmla="*/ 0 w 304800"/>
              <a:gd name="txT" fmla="*/ 0 h 0"/>
              <a:gd name="txR" fmla="*/ 304800 w 304800"/>
              <a:gd name="txB" fmla="*/ 0 h 0"/>
            </a:gdLst>
            <a:ahLst/>
            <a:cxnLst/>
            <a:rect l="txL" t="txT" r="txR" b="tx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32004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49" name="object 46"/>
          <p:cNvSpPr/>
          <p:nvPr/>
        </p:nvSpPr>
        <p:spPr>
          <a:xfrm>
            <a:off x="5926138" y="5595938"/>
            <a:ext cx="0" cy="304800"/>
          </a:xfrm>
          <a:custGeom>
            <a:avLst/>
            <a:gdLst>
              <a:gd name="txL" fmla="*/ 0 w 0"/>
              <a:gd name="txT" fmla="*/ 0 h 304800"/>
              <a:gd name="txR" fmla="*/ 0 w 0"/>
              <a:gd name="txB" fmla="*/ 304800 h 304800"/>
            </a:gdLst>
            <a:ahLst/>
            <a:cxnLst/>
            <a:rect l="txL" t="txT" r="txR" b="tx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32004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50" name="object 47"/>
          <p:cNvSpPr/>
          <p:nvPr/>
        </p:nvSpPr>
        <p:spPr>
          <a:xfrm>
            <a:off x="8221663" y="5753100"/>
            <a:ext cx="304800" cy="0"/>
          </a:xfrm>
          <a:custGeom>
            <a:avLst/>
            <a:gdLst>
              <a:gd name="txL" fmla="*/ 0 w 304800"/>
              <a:gd name="txT" fmla="*/ 0 h 0"/>
              <a:gd name="txR" fmla="*/ 304800 w 304800"/>
              <a:gd name="txB" fmla="*/ 0 h 0"/>
            </a:gdLst>
            <a:ahLst/>
            <a:cxnLst/>
            <a:rect l="txL" t="txT" r="txR" b="tx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32004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51" name="object 48"/>
          <p:cNvSpPr/>
          <p:nvPr/>
        </p:nvSpPr>
        <p:spPr>
          <a:xfrm>
            <a:off x="8374063" y="5600700"/>
            <a:ext cx="0" cy="304800"/>
          </a:xfrm>
          <a:custGeom>
            <a:avLst/>
            <a:gdLst>
              <a:gd name="txL" fmla="*/ 0 w 0"/>
              <a:gd name="txT" fmla="*/ 0 h 304800"/>
              <a:gd name="txR" fmla="*/ 0 w 0"/>
              <a:gd name="txB" fmla="*/ 304800 h 304800"/>
            </a:gdLst>
            <a:ahLst/>
            <a:cxnLst/>
            <a:rect l="txL" t="txT" r="txR" b="tx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32004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endParaRPr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22300" y="1316038"/>
            <a:ext cx="7494588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基本的微积分</a:t>
            </a: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zh-CN" altLang="en-US" sz="2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2300" y="1808163"/>
            <a:ext cx="5821363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矢量基础知识</a:t>
            </a: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</a:t>
            </a:r>
            <a:r>
              <a:rPr lang="zh-CN" altLang="en-US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r>
              <a:rPr lang="en-US" altLang="zh-CN" sz="24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endParaRPr lang="en-US" altLang="zh-CN" sz="24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2"/>
          <p:cNvSpPr/>
          <p:nvPr/>
        </p:nvSpPr>
        <p:spPr>
          <a:xfrm>
            <a:off x="719138" y="2640013"/>
            <a:ext cx="3725862" cy="614362"/>
          </a:xfrm>
          <a:prstGeom prst="rect">
            <a:avLst/>
          </a:prstGeom>
          <a:solidFill>
            <a:srgbClr val="539A84"/>
          </a:solidFill>
          <a:ln w="9525">
            <a:noFill/>
          </a:ln>
        </p:spPr>
        <p:txBody>
          <a:bodyPr lIns="121917" tIns="60958" rIns="121917" bIns="60958">
            <a:spAutoFit/>
          </a:bodyPr>
          <a:p>
            <a:pPr algn="ctr">
              <a:buFont typeface="Monotype Sorts"/>
            </a:pPr>
            <a:r>
              <a:rPr lang="zh-CN" altLang="en-US" sz="3200" b="1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矢量基础知识</a:t>
            </a:r>
            <a:endParaRPr lang="zh-CN" altLang="en-US" sz="3200" b="1" dirty="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Text Box 19"/>
          <p:cNvSpPr txBox="1"/>
          <p:nvPr/>
        </p:nvSpPr>
        <p:spPr>
          <a:xfrm>
            <a:off x="1293813" y="3529013"/>
            <a:ext cx="6886575" cy="641350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en-US" sz="2700" b="1" dirty="0">
                <a:solidFill>
                  <a:srgbClr val="E46C0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矢量定义：</a:t>
            </a:r>
            <a:r>
              <a:rPr lang="en-US" altLang="en-US" sz="27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有大小、方向的量</a:t>
            </a:r>
            <a:endParaRPr lang="en-US" altLang="en-US" sz="27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8"/>
          <p:cNvGrpSpPr/>
          <p:nvPr/>
        </p:nvGrpSpPr>
        <p:grpSpPr>
          <a:xfrm>
            <a:off x="7943850" y="3290888"/>
            <a:ext cx="1992313" cy="1295400"/>
            <a:chOff x="6107942" y="3271101"/>
            <a:chExt cx="783052" cy="814725"/>
          </a:xfrm>
        </p:grpSpPr>
        <p:cxnSp>
          <p:nvCxnSpPr>
            <p:cNvPr id="1037" name="直接箭头连接符 32"/>
            <p:cNvCxnSpPr/>
            <p:nvPr/>
          </p:nvCxnSpPr>
          <p:spPr>
            <a:xfrm flipV="1">
              <a:off x="6107942" y="3271101"/>
              <a:ext cx="783052" cy="814725"/>
            </a:xfrm>
            <a:prstGeom prst="straightConnector1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cxnSp>
        <p:graphicFrame>
          <p:nvGraphicFramePr>
            <p:cNvPr id="1028" name="Object 2"/>
            <p:cNvGraphicFramePr/>
            <p:nvPr/>
          </p:nvGraphicFramePr>
          <p:xfrm>
            <a:off x="6529841" y="3550476"/>
            <a:ext cx="315385" cy="411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" imgW="165100" imgH="215900" progId="Equation.DSMT4">
                    <p:embed/>
                  </p:oleObj>
                </mc:Choice>
                <mc:Fallback>
                  <p:oleObj name="" r:id="rId1" imgW="165100" imgH="2159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529841" y="3550476"/>
                          <a:ext cx="315385" cy="4113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3"/>
          <p:cNvGraphicFramePr/>
          <p:nvPr/>
        </p:nvGraphicFramePr>
        <p:xfrm>
          <a:off x="4368800" y="4737100"/>
          <a:ext cx="62388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165100" imgH="215900" progId="Equation.DSMT4">
                  <p:embed/>
                </p:oleObj>
              </mc:Choice>
              <mc:Fallback>
                <p:oleObj name="" r:id="rId3" imgW="165100" imgH="2159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8800" y="4737100"/>
                        <a:ext cx="623888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/>
          <p:nvPr/>
        </p:nvGrpSpPr>
        <p:grpSpPr>
          <a:xfrm>
            <a:off x="2338388" y="5246688"/>
            <a:ext cx="6913562" cy="611187"/>
            <a:chOff x="2483" y="3295"/>
            <a:chExt cx="3266" cy="385"/>
          </a:xfrm>
        </p:grpSpPr>
        <p:sp>
          <p:nvSpPr>
            <p:cNvPr id="1036" name="Text Box 19"/>
            <p:cNvSpPr txBox="1"/>
            <p:nvPr/>
          </p:nvSpPr>
          <p:spPr>
            <a:xfrm>
              <a:off x="2483" y="3295"/>
              <a:ext cx="3266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5000"/>
                </a:lnSpc>
                <a:spcBef>
                  <a:spcPct val="50000"/>
                </a:spcBef>
              </a:pPr>
              <a:r>
                <a:rPr lang="zh-CN" altLang="en-US" sz="27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注：矢量的大小亦称矢量的模</a:t>
              </a:r>
              <a:endParaRPr lang="zh-CN" altLang="en-US" sz="27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1027" name="Object 4"/>
            <p:cNvGraphicFramePr/>
            <p:nvPr/>
          </p:nvGraphicFramePr>
          <p:xfrm>
            <a:off x="4764" y="3341"/>
            <a:ext cx="59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5" imgW="494665" imgH="254000" progId="Equation.DSMT4">
                    <p:embed/>
                  </p:oleObj>
                </mc:Choice>
                <mc:Fallback>
                  <p:oleObj name="" r:id="rId5" imgW="494665" imgH="2540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64" y="3341"/>
                          <a:ext cx="597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19"/>
          <p:cNvSpPr txBox="1"/>
          <p:nvPr/>
        </p:nvSpPr>
        <p:spPr>
          <a:xfrm>
            <a:off x="2252663" y="4271963"/>
            <a:ext cx="6216650" cy="641350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en-US" sz="2700" b="1" dirty="0">
                <a:solidFill>
                  <a:srgbClr val="E46C0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书写：教材中用粗体表示</a:t>
            </a:r>
            <a:endParaRPr lang="en-US" altLang="en-US" sz="2700" b="1" dirty="0">
              <a:solidFill>
                <a:srgbClr val="E46C0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ldLvl="0" animBg="1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Text Box 4"/>
          <p:cNvSpPr txBox="1"/>
          <p:nvPr/>
        </p:nvSpPr>
        <p:spPr>
          <a:xfrm>
            <a:off x="812800" y="1411288"/>
            <a:ext cx="1784350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spcBef>
                <a:spcPct val="50000"/>
              </a:spcBef>
              <a:buFont typeface="Monotype Sorts"/>
            </a:pPr>
            <a:r>
              <a:rPr lang="en-US" altLang="zh-CN" sz="2400" b="1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、加法</a:t>
            </a:r>
            <a:endParaRPr lang="zh-CN" altLang="en-US" sz="2400" b="1" dirty="0">
              <a:solidFill>
                <a:srgbClr val="539A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Box 4"/>
          <p:cNvSpPr txBox="1"/>
          <p:nvPr/>
        </p:nvSpPr>
        <p:spPr>
          <a:xfrm>
            <a:off x="2382838" y="1411288"/>
            <a:ext cx="4721225" cy="446087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spcBef>
                <a:spcPct val="50000"/>
              </a:spcBef>
              <a:buFont typeface="Monotype Sorts"/>
            </a:pPr>
            <a:r>
              <a:rPr lang="zh-CN" altLang="en-US" sz="2100" b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平行四边形法则   三角形法则</a:t>
            </a:r>
            <a:endParaRPr lang="zh-CN" altLang="en-US" sz="2100" b="1" dirty="0">
              <a:solidFill>
                <a:srgbClr val="FF66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37"/>
          <p:cNvGrpSpPr/>
          <p:nvPr/>
        </p:nvGrpSpPr>
        <p:grpSpPr>
          <a:xfrm>
            <a:off x="8966200" y="1414463"/>
            <a:ext cx="2243138" cy="1341437"/>
            <a:chOff x="6055588" y="4118691"/>
            <a:chExt cx="1126203" cy="806292"/>
          </a:xfrm>
        </p:grpSpPr>
        <p:cxnSp>
          <p:nvCxnSpPr>
            <p:cNvPr id="2086" name="直接箭头连接符 38"/>
            <p:cNvCxnSpPr/>
            <p:nvPr/>
          </p:nvCxnSpPr>
          <p:spPr>
            <a:xfrm>
              <a:off x="6074650" y="4688719"/>
              <a:ext cx="719562" cy="0"/>
            </a:xfrm>
            <a:prstGeom prst="straightConnector1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2087" name="直接箭头连接符 39"/>
            <p:cNvCxnSpPr/>
            <p:nvPr/>
          </p:nvCxnSpPr>
          <p:spPr>
            <a:xfrm flipV="1">
              <a:off x="6776739" y="4142509"/>
              <a:ext cx="405052" cy="546210"/>
            </a:xfrm>
            <a:prstGeom prst="straightConnector1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2088" name="直接箭头连接符 40"/>
            <p:cNvCxnSpPr/>
            <p:nvPr/>
          </p:nvCxnSpPr>
          <p:spPr>
            <a:xfrm flipV="1">
              <a:off x="6055588" y="4118691"/>
              <a:ext cx="1124613" cy="557325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cxnSp>
        <p:graphicFrame>
          <p:nvGraphicFramePr>
            <p:cNvPr id="2061" name="Object 2"/>
            <p:cNvGraphicFramePr/>
            <p:nvPr/>
          </p:nvGraphicFramePr>
          <p:xfrm>
            <a:off x="6301522" y="4673063"/>
            <a:ext cx="192841" cy="251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165100" imgH="215900" progId="Equation.DSMT4">
                    <p:embed/>
                  </p:oleObj>
                </mc:Choice>
                <mc:Fallback>
                  <p:oleObj name="" r:id="rId1" imgW="165100" imgH="215900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301522" y="4673063"/>
                          <a:ext cx="192841" cy="2519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2" name="Object 3"/>
            <p:cNvGraphicFramePr/>
            <p:nvPr/>
          </p:nvGraphicFramePr>
          <p:xfrm>
            <a:off x="6976465" y="4334420"/>
            <a:ext cx="197778" cy="2419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3" imgW="165100" imgH="203200" progId="Equation.DSMT4">
                    <p:embed/>
                  </p:oleObj>
                </mc:Choice>
                <mc:Fallback>
                  <p:oleObj name="" r:id="rId3" imgW="165100" imgH="203200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976465" y="4334420"/>
                          <a:ext cx="197778" cy="2419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3" name="Object 4"/>
            <p:cNvGraphicFramePr/>
            <p:nvPr/>
          </p:nvGraphicFramePr>
          <p:xfrm>
            <a:off x="6157889" y="4124482"/>
            <a:ext cx="481105" cy="253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5" imgW="405765" imgH="215900" progId="Equation.DSMT4">
                    <p:embed/>
                  </p:oleObj>
                </mc:Choice>
                <mc:Fallback>
                  <p:oleObj name="" r:id="rId5" imgW="405765" imgH="2159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57889" y="4124482"/>
                          <a:ext cx="481105" cy="253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/>
          <p:nvPr/>
        </p:nvGrpSpPr>
        <p:grpSpPr>
          <a:xfrm>
            <a:off x="1497013" y="1884363"/>
            <a:ext cx="3857625" cy="454025"/>
            <a:chOff x="1215" y="1435"/>
            <a:chExt cx="2064" cy="341"/>
          </a:xfrm>
        </p:grpSpPr>
        <p:sp>
          <p:nvSpPr>
            <p:cNvPr id="2085" name="Rectangle 6"/>
            <p:cNvSpPr/>
            <p:nvPr/>
          </p:nvSpPr>
          <p:spPr>
            <a:xfrm>
              <a:off x="1215" y="1464"/>
              <a:ext cx="791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1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交换律</a:t>
              </a:r>
              <a:endParaRPr lang="zh-CN" altLang="en-US" sz="2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2060" name="Object 5"/>
            <p:cNvGraphicFramePr/>
            <p:nvPr/>
          </p:nvGraphicFramePr>
          <p:xfrm>
            <a:off x="1907" y="1435"/>
            <a:ext cx="1372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7" imgW="913765" imgH="215900" progId="Equation.DSMT4">
                    <p:embed/>
                  </p:oleObj>
                </mc:Choice>
                <mc:Fallback>
                  <p:oleObj name="" r:id="rId7" imgW="913765" imgH="215900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07" y="1435"/>
                          <a:ext cx="1372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"/>
          <p:cNvGrpSpPr/>
          <p:nvPr/>
        </p:nvGrpSpPr>
        <p:grpSpPr>
          <a:xfrm>
            <a:off x="1503363" y="2451100"/>
            <a:ext cx="5494337" cy="482600"/>
            <a:chOff x="628" y="2127"/>
            <a:chExt cx="2964" cy="351"/>
          </a:xfrm>
        </p:grpSpPr>
        <p:sp>
          <p:nvSpPr>
            <p:cNvPr id="2084" name="Rectangle 9"/>
            <p:cNvSpPr/>
            <p:nvPr/>
          </p:nvSpPr>
          <p:spPr>
            <a:xfrm>
              <a:off x="628" y="2136"/>
              <a:ext cx="791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1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结合律</a:t>
              </a:r>
              <a:endParaRPr lang="zh-CN" altLang="en-US" sz="2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2059" name="Object 6"/>
            <p:cNvGraphicFramePr/>
            <p:nvPr/>
          </p:nvGraphicFramePr>
          <p:xfrm>
            <a:off x="1332" y="2127"/>
            <a:ext cx="226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9" imgW="1625600" imgH="254000" progId="Equation.DSMT4">
                    <p:embed/>
                  </p:oleObj>
                </mc:Choice>
                <mc:Fallback>
                  <p:oleObj name="" r:id="rId9" imgW="1625600" imgH="254000" progId="Equation.DSMT4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32" y="2127"/>
                          <a:ext cx="2260" cy="3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" name="Text Box 12"/>
          <p:cNvSpPr txBox="1"/>
          <p:nvPr/>
        </p:nvSpPr>
        <p:spPr>
          <a:xfrm>
            <a:off x="820738" y="3163888"/>
            <a:ext cx="1776412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spcBef>
                <a:spcPct val="50000"/>
              </a:spcBef>
              <a:buFont typeface="Monotype Sorts"/>
            </a:pPr>
            <a:r>
              <a:rPr lang="en-US" altLang="zh-CN" sz="2400" b="1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、减法</a:t>
            </a:r>
            <a:endParaRPr lang="zh-CN" altLang="en-US" sz="2400" b="1" dirty="0">
              <a:solidFill>
                <a:srgbClr val="539A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4954" name="Object 7"/>
          <p:cNvGraphicFramePr/>
          <p:nvPr/>
        </p:nvGraphicFramePr>
        <p:xfrm>
          <a:off x="2597150" y="3179763"/>
          <a:ext cx="36242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1" imgW="1371600" imgH="254000" progId="Equation.DSMT4">
                  <p:embed/>
                </p:oleObj>
              </mc:Choice>
              <mc:Fallback>
                <p:oleObj name="" r:id="rId11" imgW="1371600" imgH="2540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97150" y="3179763"/>
                        <a:ext cx="3624263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9"/>
          <p:cNvGrpSpPr/>
          <p:nvPr/>
        </p:nvGrpSpPr>
        <p:grpSpPr>
          <a:xfrm>
            <a:off x="9129713" y="2852738"/>
            <a:ext cx="2052637" cy="1535112"/>
            <a:chOff x="4237" y="2795"/>
            <a:chExt cx="970" cy="966"/>
          </a:xfrm>
        </p:grpSpPr>
        <p:sp>
          <p:nvSpPr>
            <p:cNvPr id="2081" name="Line 30"/>
            <p:cNvSpPr/>
            <p:nvPr/>
          </p:nvSpPr>
          <p:spPr>
            <a:xfrm>
              <a:off x="4241" y="3521"/>
              <a:ext cx="9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82" name="Line 31"/>
            <p:cNvSpPr/>
            <p:nvPr/>
          </p:nvSpPr>
          <p:spPr>
            <a:xfrm flipV="1">
              <a:off x="4241" y="2795"/>
              <a:ext cx="544" cy="72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83" name="Line 32"/>
            <p:cNvSpPr/>
            <p:nvPr/>
          </p:nvSpPr>
          <p:spPr>
            <a:xfrm flipH="1" flipV="1">
              <a:off x="4785" y="2795"/>
              <a:ext cx="363" cy="72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056" name="Object 8"/>
            <p:cNvGraphicFramePr/>
            <p:nvPr/>
          </p:nvGraphicFramePr>
          <p:xfrm>
            <a:off x="4604" y="3521"/>
            <a:ext cx="19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3" imgW="165100" imgH="203200" progId="Equation.DSMT4">
                    <p:embed/>
                  </p:oleObj>
                </mc:Choice>
                <mc:Fallback>
                  <p:oleObj name="" r:id="rId13" imgW="165100" imgH="2032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04" y="3521"/>
                          <a:ext cx="19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7" name="Object 9"/>
            <p:cNvGraphicFramePr/>
            <p:nvPr/>
          </p:nvGraphicFramePr>
          <p:xfrm>
            <a:off x="4237" y="2977"/>
            <a:ext cx="19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5" imgW="165100" imgH="215900" progId="Equation.DSMT4">
                    <p:embed/>
                  </p:oleObj>
                </mc:Choice>
                <mc:Fallback>
                  <p:oleObj name="" r:id="rId15" imgW="165100" imgH="2159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237" y="2977"/>
                          <a:ext cx="199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" name="Object 10"/>
            <p:cNvGraphicFramePr/>
            <p:nvPr/>
          </p:nvGraphicFramePr>
          <p:xfrm>
            <a:off x="5012" y="2977"/>
            <a:ext cx="19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7" imgW="165100" imgH="228600" progId="Equation.DSMT4">
                    <p:embed/>
                  </p:oleObj>
                </mc:Choice>
                <mc:Fallback>
                  <p:oleObj name="" r:id="rId17" imgW="165100" imgH="2286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012" y="2977"/>
                          <a:ext cx="195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8"/>
          <p:cNvSpPr txBox="1"/>
          <p:nvPr/>
        </p:nvSpPr>
        <p:spPr>
          <a:xfrm>
            <a:off x="820738" y="4076700"/>
            <a:ext cx="1890712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spcBef>
                <a:spcPct val="50000"/>
              </a:spcBef>
              <a:buFont typeface="Monotype Sorts"/>
            </a:pPr>
            <a:r>
              <a:rPr lang="en-US" altLang="zh-CN" sz="2400" b="1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539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、标量积</a:t>
            </a:r>
            <a:endParaRPr lang="zh-CN" altLang="en-US" sz="2400" b="1" dirty="0">
              <a:solidFill>
                <a:srgbClr val="539A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Object 11"/>
          <p:cNvGraphicFramePr/>
          <p:nvPr/>
        </p:nvGraphicFramePr>
        <p:xfrm>
          <a:off x="2597150" y="4076700"/>
          <a:ext cx="28336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9" imgW="1040765" imgH="228600" progId="Equation.DSMT4">
                  <p:embed/>
                </p:oleObj>
              </mc:Choice>
              <mc:Fallback>
                <p:oleObj name="" r:id="rId19" imgW="1040765" imgH="228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97150" y="4076700"/>
                        <a:ext cx="2833688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4"/>
          <p:cNvGrpSpPr/>
          <p:nvPr/>
        </p:nvGrpSpPr>
        <p:grpSpPr>
          <a:xfrm>
            <a:off x="9359900" y="4570413"/>
            <a:ext cx="1822450" cy="1371600"/>
            <a:chOff x="6642230" y="3659184"/>
            <a:chExt cx="1366548" cy="1373871"/>
          </a:xfrm>
        </p:grpSpPr>
        <p:cxnSp>
          <p:nvCxnSpPr>
            <p:cNvPr id="2077" name="直接箭头连接符 5"/>
            <p:cNvCxnSpPr/>
            <p:nvPr/>
          </p:nvCxnSpPr>
          <p:spPr>
            <a:xfrm flipV="1">
              <a:off x="6642230" y="4059433"/>
              <a:ext cx="630104" cy="628963"/>
            </a:xfrm>
            <a:prstGeom prst="straightConnector1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2078" name="直接箭头连接符 6"/>
            <p:cNvCxnSpPr/>
            <p:nvPr/>
          </p:nvCxnSpPr>
          <p:spPr>
            <a:xfrm>
              <a:off x="6642230" y="4688396"/>
              <a:ext cx="1080859" cy="135004"/>
            </a:xfrm>
            <a:prstGeom prst="straightConnector1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cxnSp>
        <p:graphicFrame>
          <p:nvGraphicFramePr>
            <p:cNvPr id="2054" name="Object 12"/>
            <p:cNvGraphicFramePr/>
            <p:nvPr/>
          </p:nvGraphicFramePr>
          <p:xfrm>
            <a:off x="7181865" y="3659184"/>
            <a:ext cx="315846" cy="412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21" imgW="165100" imgH="215900" progId="Equation.DSMT4">
                    <p:embed/>
                  </p:oleObj>
                </mc:Choice>
                <mc:Fallback>
                  <p:oleObj name="" r:id="rId21" imgW="165100" imgH="2159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181865" y="3659184"/>
                          <a:ext cx="315846" cy="4129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5" name="Object 13"/>
            <p:cNvGraphicFramePr/>
            <p:nvPr/>
          </p:nvGraphicFramePr>
          <p:xfrm>
            <a:off x="7730227" y="4692016"/>
            <a:ext cx="278551" cy="3410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23" imgW="165100" imgH="203200" progId="Equation.DSMT4">
                    <p:embed/>
                  </p:oleObj>
                </mc:Choice>
                <mc:Fallback>
                  <p:oleObj name="" r:id="rId23" imgW="165100" imgH="2032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730227" y="4692016"/>
                          <a:ext cx="278551" cy="3410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9" name="TextBox 7"/>
            <p:cNvSpPr txBox="1"/>
            <p:nvPr/>
          </p:nvSpPr>
          <p:spPr>
            <a:xfrm>
              <a:off x="7070498" y="4365391"/>
              <a:ext cx="292006" cy="4161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100" b="1" i="1" dirty="0">
                  <a:solidFill>
                    <a:srgbClr val="00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</a:t>
              </a:r>
              <a:endParaRPr lang="zh-CN" altLang="en-US" sz="2100" b="1" i="1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080" name="任意多边形 10"/>
            <p:cNvSpPr/>
            <p:nvPr/>
          </p:nvSpPr>
          <p:spPr>
            <a:xfrm>
              <a:off x="6943791" y="4361704"/>
              <a:ext cx="203157" cy="416186"/>
            </a:xfrm>
            <a:custGeom>
              <a:avLst/>
              <a:gdLst>
                <a:gd name="txL" fmla="*/ 0 w 111026"/>
                <a:gd name="txT" fmla="*/ 0 h 292231"/>
                <a:gd name="txR" fmla="*/ 111026 w 111026"/>
                <a:gd name="txB" fmla="*/ 292231 h 292231"/>
              </a:gdLst>
              <a:ahLst/>
              <a:cxnLst>
                <a:cxn ang="0">
                  <a:pos x="0" y="0"/>
                </a:cxn>
                <a:cxn ang="0">
                  <a:pos x="1064270" y="414245"/>
                </a:cxn>
                <a:cxn ang="0">
                  <a:pos x="967513" y="856101"/>
                </a:cxn>
              </a:cxnLst>
              <a:rect l="txL" t="txT" r="txR" b="txB"/>
              <a:pathLst>
                <a:path w="111026" h="292231">
                  <a:moveTo>
                    <a:pt x="0" y="0"/>
                  </a:moveTo>
                  <a:cubicBezTo>
                    <a:pt x="43992" y="46348"/>
                    <a:pt x="87984" y="92697"/>
                    <a:pt x="103695" y="141402"/>
                  </a:cubicBezTo>
                  <a:cubicBezTo>
                    <a:pt x="119406" y="190107"/>
                    <a:pt x="106837" y="241169"/>
                    <a:pt x="94268" y="29223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组合 43"/>
          <p:cNvGrpSpPr/>
          <p:nvPr/>
        </p:nvGrpSpPr>
        <p:grpSpPr>
          <a:xfrm>
            <a:off x="1566863" y="4767263"/>
            <a:ext cx="3835400" cy="527050"/>
            <a:chOff x="1331640" y="5068728"/>
            <a:chExt cx="2885516" cy="546630"/>
          </a:xfrm>
        </p:grpSpPr>
        <p:sp>
          <p:nvSpPr>
            <p:cNvPr id="2076" name="Rectangle 3"/>
            <p:cNvSpPr/>
            <p:nvPr/>
          </p:nvSpPr>
          <p:spPr>
            <a:xfrm>
              <a:off x="1331640" y="5185024"/>
              <a:ext cx="1255688" cy="430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1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交换律</a:t>
              </a:r>
              <a:endParaRPr lang="zh-CN" altLang="en-US" sz="2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2053" name="Object 14"/>
            <p:cNvGraphicFramePr/>
            <p:nvPr/>
          </p:nvGraphicFramePr>
          <p:xfrm>
            <a:off x="2339900" y="5068728"/>
            <a:ext cx="1877256" cy="502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25" imgW="799465" imgH="215900" progId="Equation.DSMT4">
                    <p:embed/>
                  </p:oleObj>
                </mc:Choice>
                <mc:Fallback>
                  <p:oleObj name="" r:id="rId25" imgW="799465" imgH="215900" progId="Equation.DSMT4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339900" y="5068728"/>
                          <a:ext cx="1877256" cy="5025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"/>
          <p:cNvGrpSpPr/>
          <p:nvPr/>
        </p:nvGrpSpPr>
        <p:grpSpPr>
          <a:xfrm>
            <a:off x="1566863" y="5245100"/>
            <a:ext cx="6992937" cy="554038"/>
            <a:chOff x="1140" y="1190"/>
            <a:chExt cx="3348" cy="343"/>
          </a:xfrm>
        </p:grpSpPr>
        <p:sp>
          <p:nvSpPr>
            <p:cNvPr id="2075" name="Rectangle 6"/>
            <p:cNvSpPr/>
            <p:nvPr/>
          </p:nvSpPr>
          <p:spPr>
            <a:xfrm>
              <a:off x="1140" y="1223"/>
              <a:ext cx="791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1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分配律</a:t>
              </a:r>
              <a:endParaRPr lang="zh-CN" altLang="en-US" sz="2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2052" name="Object 15"/>
            <p:cNvGraphicFramePr/>
            <p:nvPr/>
          </p:nvGraphicFramePr>
          <p:xfrm>
            <a:off x="1812" y="1190"/>
            <a:ext cx="267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27" imgW="1968500" imgH="254000" progId="Equation.DSMT4">
                    <p:embed/>
                  </p:oleObj>
                </mc:Choice>
                <mc:Fallback>
                  <p:oleObj name="" r:id="rId27" imgW="1968500" imgH="2540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812" y="1190"/>
                          <a:ext cx="2676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1" grpId="0"/>
      <p:bldP spid="62" grpId="0" bldLvl="0" animBg="1"/>
      <p:bldP spid="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Text Box 11"/>
          <p:cNvSpPr txBox="1"/>
          <p:nvPr/>
        </p:nvSpPr>
        <p:spPr>
          <a:xfrm>
            <a:off x="1009650" y="1243013"/>
            <a:ext cx="3522663" cy="533400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spcBef>
                <a:spcPct val="50000"/>
              </a:spcBef>
              <a:buFont typeface="Monotype Sorts"/>
            </a:pPr>
            <a:r>
              <a:rPr lang="en-US" altLang="zh-CN" sz="2700" b="1" dirty="0">
                <a:solidFill>
                  <a:srgbClr val="539A84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700" b="1" dirty="0">
                <a:solidFill>
                  <a:srgbClr val="539A84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、矢量积</a:t>
            </a:r>
            <a:endParaRPr lang="zh-CN" altLang="en-US" sz="2700" b="1" dirty="0">
              <a:solidFill>
                <a:srgbClr val="539A84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9" name="Object 2"/>
          <p:cNvGraphicFramePr/>
          <p:nvPr/>
        </p:nvGraphicFramePr>
        <p:xfrm>
          <a:off x="1733550" y="2152650"/>
          <a:ext cx="17256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660400" imgH="228600" progId="Equation.DSMT4">
                  <p:embed/>
                </p:oleObj>
              </mc:Choice>
              <mc:Fallback>
                <p:oleObj name="" r:id="rId1" imgW="660400" imgH="2286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3550" y="2152650"/>
                        <a:ext cx="1725613" cy="444500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19"/>
          <p:cNvGrpSpPr/>
          <p:nvPr/>
        </p:nvGrpSpPr>
        <p:grpSpPr>
          <a:xfrm>
            <a:off x="6821488" y="1536700"/>
            <a:ext cx="1611312" cy="887413"/>
            <a:chOff x="4845787" y="4342172"/>
            <a:chExt cx="1208051" cy="885825"/>
          </a:xfrm>
        </p:grpSpPr>
        <p:grpSp>
          <p:nvGrpSpPr>
            <p:cNvPr id="3089" name="组合 8"/>
            <p:cNvGrpSpPr/>
            <p:nvPr/>
          </p:nvGrpSpPr>
          <p:grpSpPr>
            <a:xfrm>
              <a:off x="5512518" y="4342172"/>
              <a:ext cx="541320" cy="885825"/>
              <a:chOff x="4887050" y="852472"/>
              <a:chExt cx="542352" cy="884797"/>
            </a:xfrm>
          </p:grpSpPr>
          <p:cxnSp>
            <p:nvCxnSpPr>
              <p:cNvPr id="3090" name="直接箭头连接符 22"/>
              <p:cNvCxnSpPr/>
              <p:nvPr/>
            </p:nvCxnSpPr>
            <p:spPr>
              <a:xfrm flipH="1" flipV="1">
                <a:off x="4887050" y="852472"/>
                <a:ext cx="351497" cy="884797"/>
              </a:xfrm>
              <a:prstGeom prst="straightConnector1">
                <a:avLst/>
              </a:prstGeom>
              <a:ln w="19050" cap="flat" cmpd="sng">
                <a:solidFill>
                  <a:srgbClr val="C00000"/>
                </a:solidFill>
                <a:prstDash val="solid"/>
                <a:headEnd type="none" w="med" len="med"/>
                <a:tailEnd type="arrow" w="med" len="med"/>
              </a:ln>
            </p:spPr>
          </p:cxnSp>
          <p:sp>
            <p:nvSpPr>
              <p:cNvPr id="3091" name="任意多边形 23"/>
              <p:cNvSpPr/>
              <p:nvPr/>
            </p:nvSpPr>
            <p:spPr>
              <a:xfrm>
                <a:off x="5138345" y="1159407"/>
                <a:ext cx="291057" cy="414520"/>
              </a:xfrm>
              <a:custGeom>
                <a:avLst/>
                <a:gdLst>
                  <a:gd name="txL" fmla="*/ 0 w 659876"/>
                  <a:gd name="txT" fmla="*/ 0 h 527901"/>
                  <a:gd name="txR" fmla="*/ 659876 w 659876"/>
                  <a:gd name="txB" fmla="*/ 527901 h 527901"/>
                </a:gdLst>
                <a:ahLst/>
                <a:cxnLst>
                  <a:cxn ang="0">
                    <a:pos x="0" y="58746"/>
                  </a:cxn>
                  <a:cxn ang="0">
                    <a:pos x="3471" y="0"/>
                  </a:cxn>
                  <a:cxn ang="0">
                    <a:pos x="4859" y="65795"/>
                  </a:cxn>
                </a:cxnLst>
                <a:rect l="txL" t="txT" r="txR" b="txB"/>
                <a:pathLst>
                  <a:path w="659876" h="527901">
                    <a:moveTo>
                      <a:pt x="0" y="471340"/>
                    </a:moveTo>
                    <a:lnTo>
                      <a:pt x="471340" y="0"/>
                    </a:lnTo>
                    <a:lnTo>
                      <a:pt x="659876" y="527901"/>
                    </a:lnTo>
                  </a:path>
                </a:pathLst>
              </a:custGeom>
              <a:noFill/>
              <a:ln w="12700" cap="flat" cmpd="sng">
                <a:solidFill>
                  <a:srgbClr val="00B0F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3080" name="Object 3"/>
            <p:cNvGraphicFramePr/>
            <p:nvPr/>
          </p:nvGraphicFramePr>
          <p:xfrm>
            <a:off x="4845787" y="4551722"/>
            <a:ext cx="77309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3" imgW="393065" imgH="215900" progId="Equation.DSMT4">
                    <p:embed/>
                  </p:oleObj>
                </mc:Choice>
                <mc:Fallback>
                  <p:oleObj name="" r:id="rId3" imgW="393065" imgH="215900" progId="Equation.DSMT4">
                    <p:embed/>
                    <p:pic>
                      <p:nvPicPr>
                        <p:cNvPr id="0" name="图片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5787" y="4551722"/>
                          <a:ext cx="773090" cy="4191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24"/>
          <p:cNvGrpSpPr/>
          <p:nvPr/>
        </p:nvGrpSpPr>
        <p:grpSpPr>
          <a:xfrm>
            <a:off x="8178800" y="1404938"/>
            <a:ext cx="1822450" cy="1371600"/>
            <a:chOff x="6642230" y="3671890"/>
            <a:chExt cx="1366548" cy="1372283"/>
          </a:xfrm>
        </p:grpSpPr>
        <p:cxnSp>
          <p:nvCxnSpPr>
            <p:cNvPr id="3085" name="直接箭头连接符 25"/>
            <p:cNvCxnSpPr/>
            <p:nvPr/>
          </p:nvCxnSpPr>
          <p:spPr>
            <a:xfrm flipV="1">
              <a:off x="6642230" y="4059433"/>
              <a:ext cx="630104" cy="628963"/>
            </a:xfrm>
            <a:prstGeom prst="straightConnector1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3086" name="直接箭头连接符 26"/>
            <p:cNvCxnSpPr/>
            <p:nvPr/>
          </p:nvCxnSpPr>
          <p:spPr>
            <a:xfrm>
              <a:off x="6642230" y="4688396"/>
              <a:ext cx="1080858" cy="135005"/>
            </a:xfrm>
            <a:prstGeom prst="straightConnector1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arrow" w="med" len="med"/>
            </a:ln>
          </p:spPr>
        </p:cxnSp>
        <p:graphicFrame>
          <p:nvGraphicFramePr>
            <p:cNvPr id="3078" name="Object 4"/>
            <p:cNvGraphicFramePr/>
            <p:nvPr/>
          </p:nvGraphicFramePr>
          <p:xfrm>
            <a:off x="7182290" y="3671890"/>
            <a:ext cx="315035" cy="387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5" imgW="165100" imgH="203200" progId="Equation.DSMT4">
                    <p:embed/>
                  </p:oleObj>
                </mc:Choice>
                <mc:Fallback>
                  <p:oleObj name="" r:id="rId5" imgW="165100" imgH="203200" progId="Equation.DSMT4">
                    <p:embed/>
                    <p:pic>
                      <p:nvPicPr>
                        <p:cNvPr id="0" name="图片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182290" y="3671890"/>
                          <a:ext cx="315035" cy="387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" name="Object 5"/>
            <p:cNvGraphicFramePr/>
            <p:nvPr/>
          </p:nvGraphicFramePr>
          <p:xfrm>
            <a:off x="7729437" y="4680455"/>
            <a:ext cx="279341" cy="3637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7" imgW="165100" imgH="215900" progId="Equation.DSMT4">
                    <p:embed/>
                  </p:oleObj>
                </mc:Choice>
                <mc:Fallback>
                  <p:oleObj name="" r:id="rId7" imgW="165100" imgH="2159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729437" y="4680455"/>
                          <a:ext cx="279341" cy="3637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7" name="TextBox 32"/>
            <p:cNvSpPr txBox="1"/>
            <p:nvPr/>
          </p:nvSpPr>
          <p:spPr>
            <a:xfrm>
              <a:off x="7024141" y="4348404"/>
              <a:ext cx="292006" cy="4157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100" b="1" i="1" dirty="0">
                  <a:solidFill>
                    <a:srgbClr val="00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</a:t>
              </a:r>
              <a:endParaRPr lang="zh-CN" altLang="en-US" sz="2100" b="1" i="1" dirty="0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3088" name="任意多边形 30"/>
            <p:cNvSpPr/>
            <p:nvPr/>
          </p:nvSpPr>
          <p:spPr>
            <a:xfrm>
              <a:off x="6880304" y="4394776"/>
              <a:ext cx="215854" cy="415705"/>
            </a:xfrm>
            <a:custGeom>
              <a:avLst/>
              <a:gdLst>
                <a:gd name="txL" fmla="*/ 0 w 111026"/>
                <a:gd name="txT" fmla="*/ 0 h 292231"/>
                <a:gd name="txR" fmla="*/ 111026 w 111026"/>
                <a:gd name="txB" fmla="*/ 292231 h 292231"/>
              </a:gdLst>
              <a:ahLst/>
              <a:cxnLst>
                <a:cxn ang="0">
                  <a:pos x="0" y="0"/>
                </a:cxn>
                <a:cxn ang="0">
                  <a:pos x="1441132" y="411854"/>
                </a:cxn>
                <a:cxn ang="0">
                  <a:pos x="1310108" y="851166"/>
                </a:cxn>
              </a:cxnLst>
              <a:rect l="txL" t="txT" r="txR" b="txB"/>
              <a:pathLst>
                <a:path w="111026" h="292231">
                  <a:moveTo>
                    <a:pt x="0" y="0"/>
                  </a:moveTo>
                  <a:cubicBezTo>
                    <a:pt x="43992" y="46348"/>
                    <a:pt x="87984" y="92697"/>
                    <a:pt x="103695" y="141402"/>
                  </a:cubicBezTo>
                  <a:cubicBezTo>
                    <a:pt x="119406" y="190107"/>
                    <a:pt x="106837" y="241169"/>
                    <a:pt x="94268" y="29223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32" name="Object 6"/>
          <p:cNvGraphicFramePr/>
          <p:nvPr/>
        </p:nvGraphicFramePr>
        <p:xfrm>
          <a:off x="1731963" y="2725738"/>
          <a:ext cx="5118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9" imgW="1981200" imgH="330200" progId="Equation.DSMT4">
                  <p:embed/>
                </p:oleObj>
              </mc:Choice>
              <mc:Fallback>
                <p:oleObj name="" r:id="rId9" imgW="1981200" imgH="3302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31963" y="2725738"/>
                        <a:ext cx="5118100" cy="635000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/>
          <p:nvPr/>
        </p:nvGraphicFramePr>
        <p:xfrm>
          <a:off x="4032250" y="3979863"/>
          <a:ext cx="332898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1" imgW="2006600" imgH="1168400" progId="Equation.DSMT4">
                  <p:embed/>
                </p:oleObj>
              </mc:Choice>
              <mc:Fallback>
                <p:oleObj name="" r:id="rId11" imgW="2006600" imgH="11684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32250" y="3979863"/>
                        <a:ext cx="3328988" cy="1374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/>
          <p:nvPr/>
        </p:nvGraphicFramePr>
        <p:xfrm>
          <a:off x="1341438" y="5405438"/>
          <a:ext cx="93837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3" imgW="5156200" imgH="419100" progId="Equation.DSMT4">
                  <p:embed/>
                </p:oleObj>
              </mc:Choice>
              <mc:Fallback>
                <p:oleObj name="" r:id="rId13" imgW="5156200" imgH="4191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41438" y="5405438"/>
                        <a:ext cx="9383712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1"/>
          <p:cNvSpPr txBox="1"/>
          <p:nvPr/>
        </p:nvSpPr>
        <p:spPr>
          <a:xfrm>
            <a:off x="1587500" y="3643313"/>
            <a:ext cx="6240463" cy="533400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spcBef>
                <a:spcPct val="50000"/>
              </a:spcBef>
              <a:buFont typeface="Monotype Sorts"/>
            </a:pPr>
            <a:r>
              <a:rPr lang="zh-CN" altLang="en-US" sz="2700" b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方向：右手螺旋法则</a:t>
            </a:r>
            <a:endParaRPr lang="zh-CN" altLang="en-US" sz="2700" b="1" dirty="0">
              <a:solidFill>
                <a:srgbClr val="FF66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2">
            <a:hlinkClick r:id="rId1" action="ppaction://hlinksldjump"/>
          </p:cNvPr>
          <p:cNvSpPr txBox="1"/>
          <p:nvPr/>
        </p:nvSpPr>
        <p:spPr>
          <a:xfrm>
            <a:off x="2182813" y="2395538"/>
            <a:ext cx="5473700" cy="60166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15000"/>
              </a:lnSpc>
            </a:pP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§1</a:t>
            </a:r>
            <a:r>
              <a:rPr lang="en-US" altLang="zh-CN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 参照系 坐标系 物理模型</a:t>
            </a:r>
            <a:endParaRPr lang="zh-CN" altLang="en-US" sz="2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651" name="矩形 1">
            <a:hlinkClick r:id="rId2" action="ppaction://hlinksldjump"/>
          </p:cNvPr>
          <p:cNvSpPr/>
          <p:nvPr/>
        </p:nvSpPr>
        <p:spPr>
          <a:xfrm>
            <a:off x="2182813" y="3195638"/>
            <a:ext cx="6437312" cy="60166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15000"/>
              </a:lnSpc>
            </a:pP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§1</a:t>
            </a:r>
            <a:r>
              <a:rPr lang="en-US" altLang="zh-CN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 位置矢量 位移 速度 加速度</a:t>
            </a:r>
            <a:endParaRPr lang="zh-CN" altLang="en-US" sz="2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652" name="矩形 2"/>
          <p:cNvSpPr/>
          <p:nvPr/>
        </p:nvSpPr>
        <p:spPr>
          <a:xfrm>
            <a:off x="2182813" y="3995738"/>
            <a:ext cx="7591425" cy="60166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15000"/>
              </a:lnSpc>
            </a:pP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§1</a:t>
            </a:r>
            <a:r>
              <a:rPr lang="en-US" altLang="zh-CN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3 曲线运动的描述 运动学中的两类问题</a:t>
            </a:r>
            <a:endParaRPr lang="zh-CN" altLang="en-US" sz="2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653" name="矩形 3"/>
          <p:cNvSpPr/>
          <p:nvPr/>
        </p:nvSpPr>
        <p:spPr>
          <a:xfrm>
            <a:off x="2182813" y="4795838"/>
            <a:ext cx="5473700" cy="60166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15000"/>
              </a:lnSpc>
            </a:pP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§1</a:t>
            </a:r>
            <a:r>
              <a:rPr lang="en-US" altLang="zh-CN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4 相对运动</a:t>
            </a:r>
            <a:endParaRPr lang="zh-CN" altLang="en-US" sz="2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654" name="Text Box 2">
            <a:hlinkClick r:id="rId1" action="ppaction://hlinksldjump"/>
          </p:cNvPr>
          <p:cNvSpPr txBox="1"/>
          <p:nvPr/>
        </p:nvSpPr>
        <p:spPr>
          <a:xfrm>
            <a:off x="2927350" y="1524000"/>
            <a:ext cx="3668713" cy="601663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15000"/>
              </a:lnSpc>
            </a:pP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章  质点运动学</a:t>
            </a:r>
            <a:endParaRPr lang="zh-CN" altLang="en-US" sz="2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38"/>
          <p:cNvGrpSpPr/>
          <p:nvPr/>
        </p:nvGrpSpPr>
        <p:grpSpPr>
          <a:xfrm>
            <a:off x="1055688" y="2636838"/>
            <a:ext cx="4144962" cy="2306637"/>
            <a:chOff x="363" y="1575"/>
            <a:chExt cx="1958" cy="1452"/>
          </a:xfrm>
        </p:grpSpPr>
        <p:graphicFrame>
          <p:nvGraphicFramePr>
            <p:cNvPr id="4106" name="Object 2"/>
            <p:cNvGraphicFramePr/>
            <p:nvPr/>
          </p:nvGraphicFramePr>
          <p:xfrm>
            <a:off x="363" y="1575"/>
            <a:ext cx="1814" cy="1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" imgW="2522220" imgH="1973580" progId="Word.Picture.8">
                    <p:embed/>
                  </p:oleObj>
                </mc:Choice>
                <mc:Fallback>
                  <p:oleObj name="" r:id="rId1" imgW="2522220" imgH="1973580" progId="Word.Picture.8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3" y="1575"/>
                          <a:ext cx="1814" cy="1452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7" name="Object 3"/>
            <p:cNvGraphicFramePr/>
            <p:nvPr/>
          </p:nvGraphicFramePr>
          <p:xfrm>
            <a:off x="1760" y="1650"/>
            <a:ext cx="561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3" imgW="748665" imgH="215900" progId="Equation.3">
                    <p:embed/>
                  </p:oleObj>
                </mc:Choice>
                <mc:Fallback>
                  <p:oleObj name="" r:id="rId3" imgW="748665" imgH="2159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60" y="1650"/>
                          <a:ext cx="561" cy="1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40" name="Oval 6"/>
            <p:cNvSpPr/>
            <p:nvPr/>
          </p:nvSpPr>
          <p:spPr>
            <a:xfrm>
              <a:off x="1686" y="1661"/>
              <a:ext cx="30" cy="3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</p:grpSp>
      <p:sp>
        <p:nvSpPr>
          <p:cNvPr id="19526" name="Text Box 70"/>
          <p:cNvSpPr txBox="1"/>
          <p:nvPr/>
        </p:nvSpPr>
        <p:spPr>
          <a:xfrm>
            <a:off x="1454150" y="1604963"/>
            <a:ext cx="9347200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坐标系：是对参考系的数学表述，为定量地描述物体运动而引入。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3" name="Group 135"/>
          <p:cNvGrpSpPr>
            <a:grpSpLocks noChangeAspect="1"/>
          </p:cNvGrpSpPr>
          <p:nvPr/>
        </p:nvGrpSpPr>
        <p:grpSpPr>
          <a:xfrm>
            <a:off x="6904038" y="2309813"/>
            <a:ext cx="2233612" cy="1411287"/>
            <a:chOff x="3703" y="438"/>
            <a:chExt cx="1261" cy="1482"/>
          </a:xfrm>
        </p:grpSpPr>
        <p:sp>
          <p:nvSpPr>
            <p:cNvPr id="4129" name="Line 136"/>
            <p:cNvSpPr/>
            <p:nvPr/>
          </p:nvSpPr>
          <p:spPr>
            <a:xfrm>
              <a:off x="3830" y="1480"/>
              <a:ext cx="11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30" name="Line 137"/>
            <p:cNvSpPr/>
            <p:nvPr/>
          </p:nvSpPr>
          <p:spPr>
            <a:xfrm flipV="1">
              <a:off x="3830" y="998"/>
              <a:ext cx="652" cy="48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31" name="Text Box 138"/>
            <p:cNvSpPr txBox="1"/>
            <p:nvPr/>
          </p:nvSpPr>
          <p:spPr>
            <a:xfrm>
              <a:off x="3703" y="1435"/>
              <a:ext cx="230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O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2" name="Rectangle 139"/>
            <p:cNvSpPr/>
            <p:nvPr/>
          </p:nvSpPr>
          <p:spPr>
            <a:xfrm>
              <a:off x="4766" y="1395"/>
              <a:ext cx="184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Calibri" panose="020F0502020204030204" pitchFamily="34" charset="0"/>
                </a:rPr>
                <a:t>x</a:t>
              </a:r>
              <a:endParaRPr lang="en-US" altLang="zh-CN" sz="2400" b="1" i="1" dirty="0">
                <a:latin typeface="Calibri" panose="020F0502020204030204" pitchFamily="34" charset="0"/>
              </a:endParaRPr>
            </a:p>
          </p:txBody>
        </p:sp>
        <p:sp>
          <p:nvSpPr>
            <p:cNvPr id="4133" name="Freeform 140"/>
            <p:cNvSpPr/>
            <p:nvPr/>
          </p:nvSpPr>
          <p:spPr>
            <a:xfrm>
              <a:off x="4000" y="1366"/>
              <a:ext cx="85" cy="114"/>
            </a:xfrm>
            <a:custGeom>
              <a:avLst/>
              <a:gdLst>
                <a:gd name="txL" fmla="*/ 0 w 85"/>
                <a:gd name="txT" fmla="*/ 0 h 114"/>
                <a:gd name="txR" fmla="*/ 85 w 85"/>
                <a:gd name="txB" fmla="*/ 114 h 114"/>
              </a:gdLst>
              <a:ahLst/>
              <a:cxnLst>
                <a:cxn ang="0">
                  <a:pos x="0" y="0"/>
                </a:cxn>
                <a:cxn ang="0">
                  <a:pos x="57" y="28"/>
                </a:cxn>
                <a:cxn ang="0">
                  <a:pos x="85" y="114"/>
                </a:cxn>
              </a:cxnLst>
              <a:rect l="txL" t="txT" r="txR" b="txB"/>
              <a:pathLst>
                <a:path w="85" h="114">
                  <a:moveTo>
                    <a:pt x="0" y="0"/>
                  </a:moveTo>
                  <a:cubicBezTo>
                    <a:pt x="21" y="4"/>
                    <a:pt x="43" y="9"/>
                    <a:pt x="57" y="28"/>
                  </a:cubicBezTo>
                  <a:cubicBezTo>
                    <a:pt x="71" y="47"/>
                    <a:pt x="78" y="80"/>
                    <a:pt x="85" y="11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34" name="Text Box 141"/>
            <p:cNvSpPr txBox="1"/>
            <p:nvPr/>
          </p:nvSpPr>
          <p:spPr>
            <a:xfrm>
              <a:off x="4016" y="1278"/>
              <a:ext cx="19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Symbol" panose="05050102010706020507" pitchFamily="18" charset="2"/>
                  <a:sym typeface="Symbol" panose="05050102010706020507" pitchFamily="18" charset="2"/>
                </a:rPr>
                <a:t></a:t>
              </a:r>
              <a:endParaRPr lang="en-US" altLang="zh-CN" sz="2400" b="1" i="1" dirty="0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graphicFrame>
          <p:nvGraphicFramePr>
            <p:cNvPr id="4102" name="Object 4"/>
            <p:cNvGraphicFramePr/>
            <p:nvPr/>
          </p:nvGraphicFramePr>
          <p:xfrm>
            <a:off x="4206" y="438"/>
            <a:ext cx="14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5" imgW="152400" imgH="228600" progId="Equation.DSMT4">
                    <p:embed/>
                  </p:oleObj>
                </mc:Choice>
                <mc:Fallback>
                  <p:oleObj name="" r:id="rId5" imgW="152400" imgH="228600" progId="Equation.DSMT4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06" y="438"/>
                          <a:ext cx="142" cy="2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3" name="Object 5"/>
            <p:cNvGraphicFramePr/>
            <p:nvPr/>
          </p:nvGraphicFramePr>
          <p:xfrm>
            <a:off x="4284" y="1126"/>
            <a:ext cx="133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7" imgW="127000" imgH="177165" progId="Equation.DSMT4">
                    <p:embed/>
                  </p:oleObj>
                </mc:Choice>
                <mc:Fallback>
                  <p:oleObj name="" r:id="rId7" imgW="127000" imgH="177165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84" y="1126"/>
                          <a:ext cx="133" cy="1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5" name="Text Box 144"/>
            <p:cNvSpPr txBox="1"/>
            <p:nvPr/>
          </p:nvSpPr>
          <p:spPr>
            <a:xfrm>
              <a:off x="4482" y="916"/>
              <a:ext cx="210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P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36" name="Line 145"/>
            <p:cNvSpPr/>
            <p:nvPr/>
          </p:nvSpPr>
          <p:spPr>
            <a:xfrm flipV="1">
              <a:off x="3818" y="1338"/>
              <a:ext cx="198" cy="14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104" name="Object 6"/>
            <p:cNvGraphicFramePr/>
            <p:nvPr/>
          </p:nvGraphicFramePr>
          <p:xfrm>
            <a:off x="3817" y="1100"/>
            <a:ext cx="16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9" imgW="152400" imgH="228600" progId="Equation.DSMT4">
                    <p:embed/>
                  </p:oleObj>
                </mc:Choice>
                <mc:Fallback>
                  <p:oleObj name="" r:id="rId9" imgW="152400" imgH="228600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17" y="1100"/>
                          <a:ext cx="167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7" name="Line 147"/>
            <p:cNvSpPr/>
            <p:nvPr/>
          </p:nvSpPr>
          <p:spPr>
            <a:xfrm flipH="1" flipV="1">
              <a:off x="4156" y="572"/>
              <a:ext cx="340" cy="4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105" name="Object 7"/>
            <p:cNvGraphicFramePr/>
            <p:nvPr/>
          </p:nvGraphicFramePr>
          <p:xfrm>
            <a:off x="4186" y="759"/>
            <a:ext cx="171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1" imgW="165100" imgH="228600" progId="Equation.DSMT4">
                    <p:embed/>
                  </p:oleObj>
                </mc:Choice>
                <mc:Fallback>
                  <p:oleObj name="" r:id="rId11" imgW="165100" imgH="228600" progId="Equation.DSMT4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86" y="759"/>
                          <a:ext cx="171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8" name="Line 149"/>
            <p:cNvSpPr/>
            <p:nvPr/>
          </p:nvSpPr>
          <p:spPr>
            <a:xfrm flipH="1" flipV="1">
              <a:off x="4297" y="743"/>
              <a:ext cx="198" cy="25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39" name="Oval 150"/>
            <p:cNvSpPr/>
            <p:nvPr/>
          </p:nvSpPr>
          <p:spPr>
            <a:xfrm>
              <a:off x="4454" y="969"/>
              <a:ext cx="57" cy="57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400" b="1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9551" name="Rectangle 97"/>
          <p:cNvSpPr>
            <a:spLocks noChangeAspect="1"/>
          </p:cNvSpPr>
          <p:nvPr/>
        </p:nvSpPr>
        <p:spPr>
          <a:xfrm>
            <a:off x="7056438" y="3805238"/>
            <a:ext cx="2103437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pPr eaLnBrk="0" hangingPunct="0"/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平面极坐标系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4" name="Group 189"/>
          <p:cNvGrpSpPr>
            <a:grpSpLocks noChangeAspect="1"/>
          </p:cNvGrpSpPr>
          <p:nvPr/>
        </p:nvGrpSpPr>
        <p:grpSpPr>
          <a:xfrm>
            <a:off x="6383338" y="4625975"/>
            <a:ext cx="3097212" cy="1212850"/>
            <a:chOff x="3447" y="1704"/>
            <a:chExt cx="1950" cy="1192"/>
          </a:xfrm>
        </p:grpSpPr>
        <p:sp>
          <p:nvSpPr>
            <p:cNvPr id="4116" name="Line 206"/>
            <p:cNvSpPr/>
            <p:nvPr/>
          </p:nvSpPr>
          <p:spPr>
            <a:xfrm flipH="1">
              <a:off x="4638" y="1905"/>
              <a:ext cx="28" cy="22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17" name="Line 201"/>
            <p:cNvSpPr/>
            <p:nvPr/>
          </p:nvSpPr>
          <p:spPr>
            <a:xfrm flipV="1">
              <a:off x="4042" y="1914"/>
              <a:ext cx="227" cy="11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18" name="Line 202"/>
            <p:cNvSpPr/>
            <p:nvPr/>
          </p:nvSpPr>
          <p:spPr>
            <a:xfrm>
              <a:off x="4042" y="2047"/>
              <a:ext cx="114" cy="22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098" name="Object 8"/>
            <p:cNvGraphicFramePr/>
            <p:nvPr/>
          </p:nvGraphicFramePr>
          <p:xfrm>
            <a:off x="4099" y="1737"/>
            <a:ext cx="14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3" imgW="177800" imgH="228600" progId="Equation.DSMT4">
                    <p:embed/>
                  </p:oleObj>
                </mc:Choice>
                <mc:Fallback>
                  <p:oleObj name="" r:id="rId13" imgW="177800" imgH="2286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99" y="1737"/>
                          <a:ext cx="14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9" name="Object 9"/>
            <p:cNvGraphicFramePr/>
            <p:nvPr/>
          </p:nvGraphicFramePr>
          <p:xfrm>
            <a:off x="4182" y="2137"/>
            <a:ext cx="14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15" imgW="190500" imgH="228600" progId="Equation.DSMT4">
                    <p:embed/>
                  </p:oleObj>
                </mc:Choice>
                <mc:Fallback>
                  <p:oleObj name="" r:id="rId15" imgW="190500" imgH="2286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182" y="2137"/>
                          <a:ext cx="145" cy="1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" name="Object 10"/>
            <p:cNvGraphicFramePr/>
            <p:nvPr/>
          </p:nvGraphicFramePr>
          <p:xfrm>
            <a:off x="4793" y="1704"/>
            <a:ext cx="14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7" imgW="177800" imgH="228600" progId="Equation.DSMT4">
                    <p:embed/>
                  </p:oleObj>
                </mc:Choice>
                <mc:Fallback>
                  <p:oleObj name="" r:id="rId17" imgW="177800" imgH="228600" progId="Equation.DSMT4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793" y="1704"/>
                          <a:ext cx="144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" name="Object 11"/>
            <p:cNvGraphicFramePr/>
            <p:nvPr/>
          </p:nvGraphicFramePr>
          <p:xfrm>
            <a:off x="4610" y="2049"/>
            <a:ext cx="17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9" imgW="190500" imgH="228600" progId="Equation.DSMT4">
                    <p:embed/>
                  </p:oleObj>
                </mc:Choice>
                <mc:Fallback>
                  <p:oleObj name="" r:id="rId19" imgW="190500" imgH="2286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610" y="2049"/>
                          <a:ext cx="171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9" name="Freeform 194"/>
            <p:cNvSpPr/>
            <p:nvPr/>
          </p:nvSpPr>
          <p:spPr>
            <a:xfrm>
              <a:off x="3504" y="1905"/>
              <a:ext cx="1686" cy="769"/>
            </a:xfrm>
            <a:custGeom>
              <a:avLst/>
              <a:gdLst>
                <a:gd name="txL" fmla="*/ 0 w 1686"/>
                <a:gd name="txT" fmla="*/ 0 h 769"/>
                <a:gd name="txR" fmla="*/ 1686 w 1686"/>
                <a:gd name="txB" fmla="*/ 769 h 769"/>
              </a:gdLst>
              <a:ahLst/>
              <a:cxnLst>
                <a:cxn ang="0">
                  <a:pos x="0" y="769"/>
                </a:cxn>
                <a:cxn ang="0">
                  <a:pos x="198" y="372"/>
                </a:cxn>
                <a:cxn ang="0">
                  <a:pos x="595" y="117"/>
                </a:cxn>
                <a:cxn ang="0">
                  <a:pos x="1058" y="0"/>
                </a:cxn>
                <a:cxn ang="0">
                  <a:pos x="1686" y="115"/>
                </a:cxn>
              </a:cxnLst>
              <a:rect l="txL" t="txT" r="txR" b="txB"/>
              <a:pathLst>
                <a:path w="1686" h="769">
                  <a:moveTo>
                    <a:pt x="0" y="769"/>
                  </a:moveTo>
                  <a:cubicBezTo>
                    <a:pt x="49" y="625"/>
                    <a:pt x="99" y="481"/>
                    <a:pt x="198" y="372"/>
                  </a:cubicBezTo>
                  <a:cubicBezTo>
                    <a:pt x="297" y="263"/>
                    <a:pt x="452" y="179"/>
                    <a:pt x="595" y="117"/>
                  </a:cubicBezTo>
                  <a:cubicBezTo>
                    <a:pt x="738" y="55"/>
                    <a:pt x="876" y="0"/>
                    <a:pt x="1058" y="0"/>
                  </a:cubicBezTo>
                  <a:cubicBezTo>
                    <a:pt x="1240" y="0"/>
                    <a:pt x="1555" y="91"/>
                    <a:pt x="1686" y="115"/>
                  </a:cubicBezTo>
                </a:path>
              </a:pathLst>
            </a:cu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20" name="Oval 195"/>
            <p:cNvSpPr/>
            <p:nvPr/>
          </p:nvSpPr>
          <p:spPr>
            <a:xfrm>
              <a:off x="3645" y="2273"/>
              <a:ext cx="57" cy="57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400" b="1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21" name="Rectangle 196"/>
            <p:cNvSpPr/>
            <p:nvPr/>
          </p:nvSpPr>
          <p:spPr>
            <a:xfrm>
              <a:off x="3447" y="2132"/>
              <a:ext cx="245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Calibri" panose="020F0502020204030204" pitchFamily="34" charset="0"/>
                </a:rPr>
                <a:t>O</a:t>
              </a:r>
              <a:endParaRPr lang="en-US" altLang="zh-CN" sz="2400" b="1" i="1" dirty="0">
                <a:latin typeface="Calibri" panose="020F0502020204030204" pitchFamily="34" charset="0"/>
              </a:endParaRPr>
            </a:p>
          </p:txBody>
        </p:sp>
        <p:sp>
          <p:nvSpPr>
            <p:cNvPr id="4122" name="Rectangle 197"/>
            <p:cNvSpPr/>
            <p:nvPr/>
          </p:nvSpPr>
          <p:spPr>
            <a:xfrm>
              <a:off x="3532" y="2443"/>
              <a:ext cx="476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Calibri" panose="020F0502020204030204" pitchFamily="34" charset="0"/>
                </a:rPr>
                <a:t>s &lt; 0</a:t>
              </a:r>
              <a:endParaRPr lang="en-US" altLang="zh-CN" sz="2400" b="1" dirty="0">
                <a:latin typeface="Calibri" panose="020F0502020204030204" pitchFamily="34" charset="0"/>
              </a:endParaRPr>
            </a:p>
          </p:txBody>
        </p:sp>
        <p:sp>
          <p:nvSpPr>
            <p:cNvPr id="4123" name="Oval 198"/>
            <p:cNvSpPr/>
            <p:nvPr/>
          </p:nvSpPr>
          <p:spPr>
            <a:xfrm>
              <a:off x="4013" y="2019"/>
              <a:ext cx="57" cy="57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400" b="1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24" name="Oval 199"/>
            <p:cNvSpPr/>
            <p:nvPr/>
          </p:nvSpPr>
          <p:spPr>
            <a:xfrm>
              <a:off x="4638" y="1877"/>
              <a:ext cx="57" cy="57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400" b="1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25" name="Rectangle 200"/>
            <p:cNvSpPr/>
            <p:nvPr/>
          </p:nvSpPr>
          <p:spPr>
            <a:xfrm>
              <a:off x="4921" y="1923"/>
              <a:ext cx="476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Calibri" panose="020F0502020204030204" pitchFamily="34" charset="0"/>
                </a:rPr>
                <a:t>s &gt; 0</a:t>
              </a:r>
              <a:endParaRPr lang="en-US" altLang="zh-CN" sz="2400" b="1" dirty="0">
                <a:latin typeface="Calibri" panose="020F0502020204030204" pitchFamily="34" charset="0"/>
              </a:endParaRPr>
            </a:p>
          </p:txBody>
        </p:sp>
        <p:sp>
          <p:nvSpPr>
            <p:cNvPr id="4126" name="Text Box 203"/>
            <p:cNvSpPr txBox="1"/>
            <p:nvPr/>
          </p:nvSpPr>
          <p:spPr>
            <a:xfrm>
              <a:off x="3851" y="1880"/>
              <a:ext cx="257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" name="Text Box 204"/>
            <p:cNvSpPr txBox="1"/>
            <p:nvPr/>
          </p:nvSpPr>
          <p:spPr>
            <a:xfrm>
              <a:off x="4496" y="1710"/>
              <a:ext cx="245" cy="4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8" name="Line 205"/>
            <p:cNvSpPr/>
            <p:nvPr/>
          </p:nvSpPr>
          <p:spPr>
            <a:xfrm>
              <a:off x="4694" y="1905"/>
              <a:ext cx="227" cy="2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9593" name="Rectangle 97"/>
          <p:cNvSpPr>
            <a:spLocks noChangeAspect="1"/>
          </p:cNvSpPr>
          <p:nvPr/>
        </p:nvSpPr>
        <p:spPr>
          <a:xfrm>
            <a:off x="7327900" y="5678488"/>
            <a:ext cx="1793875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pPr eaLnBrk="0" hangingPunct="0"/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自然坐标系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595" name="Rectangle 97"/>
          <p:cNvSpPr>
            <a:spLocks noChangeAspect="1"/>
          </p:cNvSpPr>
          <p:nvPr/>
        </p:nvSpPr>
        <p:spPr>
          <a:xfrm>
            <a:off x="2490788" y="3997325"/>
            <a:ext cx="1793875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pPr eaLnBrk="0" hangingPunct="0"/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直角坐标系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6" name="Text Box 2"/>
          <p:cNvSpPr/>
          <p:nvPr/>
        </p:nvSpPr>
        <p:spPr>
          <a:xfrm>
            <a:off x="1111250" y="1166813"/>
            <a:ext cx="2584450" cy="534987"/>
          </a:xfrm>
          <a:prstGeom prst="homePlate">
            <a:avLst>
              <a:gd name="adj" fmla="val 49896"/>
            </a:avLst>
          </a:prstGeom>
          <a:solidFill>
            <a:srgbClr val="539A84"/>
          </a:solidFill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endParaRPr lang="zh-CN" altLang="en-US" sz="2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26" grpId="0"/>
      <p:bldP spid="19551" grpId="0"/>
      <p:bldP spid="19593" grpId="0"/>
      <p:bldP spid="19595" grpId="0"/>
      <p:bldP spid="6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Text Box 3"/>
          <p:cNvSpPr txBox="1"/>
          <p:nvPr/>
        </p:nvSpPr>
        <p:spPr>
          <a:xfrm>
            <a:off x="508000" y="1782763"/>
            <a:ext cx="11176000" cy="1231900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为确定物体最基本的运动规律，对真实的物理过程和对象，根据所讨论的问题的基本要求对其进行理想化的简化，抽象为可以用数学方法描述的理想模型。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484" name="Text Box 4"/>
          <p:cNvSpPr txBox="1"/>
          <p:nvPr/>
        </p:nvSpPr>
        <p:spPr>
          <a:xfrm>
            <a:off x="406400" y="2984500"/>
            <a:ext cx="5384800" cy="490538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 anchor="ctr" anchorCtr="0">
            <a:spAutoFit/>
          </a:bodyPr>
          <a:p>
            <a:pPr algn="ctr"/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*关于物理模型的提出</a:t>
            </a:r>
            <a:endParaRPr lang="zh-CN" altLang="en-US" sz="2400" b="1" dirty="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485" name="Text Box 5"/>
          <p:cNvSpPr txBox="1"/>
          <p:nvPr/>
        </p:nvSpPr>
        <p:spPr>
          <a:xfrm>
            <a:off x="590550" y="3570288"/>
            <a:ext cx="4330700" cy="490537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 anchor="ctr" anchorCtr="0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Monotype Sorts"/>
              </a:rPr>
              <a:t>（１）明确所提问题；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486" name="Text Box 6"/>
          <p:cNvSpPr txBox="1"/>
          <p:nvPr/>
        </p:nvSpPr>
        <p:spPr>
          <a:xfrm>
            <a:off x="609600" y="4535488"/>
            <a:ext cx="7189788" cy="490537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 anchor="ctr" anchorCtr="0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Monotype Sorts"/>
              </a:rPr>
              <a:t>（３）突出主要因素，提出理想模型；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487" name="Rectangle 7"/>
          <p:cNvSpPr/>
          <p:nvPr/>
        </p:nvSpPr>
        <p:spPr>
          <a:xfrm>
            <a:off x="474663" y="5492750"/>
            <a:ext cx="9653587" cy="528638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lnSpc>
                <a:spcPct val="110000"/>
              </a:lnSpc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注：理想模型是对所考察的问题来说的，不具有绝对意义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488" name="Rectangle 8"/>
          <p:cNvSpPr/>
          <p:nvPr/>
        </p:nvSpPr>
        <p:spPr>
          <a:xfrm>
            <a:off x="628650" y="4070350"/>
            <a:ext cx="8007350" cy="490538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Monotype Sorts"/>
              </a:rPr>
              <a:t>（２）分析各种因素在所提问题中的主次；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Monotype Sorts"/>
            </a:endParaRPr>
          </a:p>
        </p:txBody>
      </p:sp>
      <p:sp>
        <p:nvSpPr>
          <p:cNvPr id="20489" name="Rectangle 9"/>
          <p:cNvSpPr/>
          <p:nvPr/>
        </p:nvSpPr>
        <p:spPr>
          <a:xfrm>
            <a:off x="652463" y="5030788"/>
            <a:ext cx="3513137" cy="490537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Monotype Sorts"/>
              </a:rPr>
              <a:t>（４）实验验证。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Monotype Sorts"/>
            </a:endParaRPr>
          </a:p>
        </p:txBody>
      </p:sp>
      <p:sp>
        <p:nvSpPr>
          <p:cNvPr id="10" name="Text Box 2"/>
          <p:cNvSpPr/>
          <p:nvPr/>
        </p:nvSpPr>
        <p:spPr>
          <a:xfrm>
            <a:off x="1111250" y="1262063"/>
            <a:ext cx="2584450" cy="534987"/>
          </a:xfrm>
          <a:prstGeom prst="homePlate">
            <a:avLst>
              <a:gd name="adj" fmla="val 49896"/>
            </a:avLst>
          </a:prstGeom>
          <a:solidFill>
            <a:srgbClr val="539A84"/>
          </a:solidFill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物理模型</a:t>
            </a:r>
            <a:endParaRPr lang="zh-CN" altLang="en-US" sz="2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  <p:bldP spid="20484" grpId="0"/>
      <p:bldP spid="20485" grpId="0"/>
      <p:bldP spid="20486" grpId="0"/>
      <p:bldP spid="20487" grpId="0"/>
      <p:bldP spid="20488" grpId="0"/>
      <p:bldP spid="20489" grpId="0"/>
      <p:bldP spid="1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607" name="Object 2"/>
          <p:cNvGraphicFramePr/>
          <p:nvPr/>
        </p:nvGraphicFramePr>
        <p:xfrm>
          <a:off x="3598863" y="2203450"/>
          <a:ext cx="3937000" cy="229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2522220" imgH="1973580" progId="Word.Picture.8">
                  <p:embed/>
                </p:oleObj>
              </mc:Choice>
              <mc:Fallback>
                <p:oleObj name="" r:id="rId1" imgW="2522220" imgH="1973580" progId="Word.Picture.8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98863" y="2203450"/>
                        <a:ext cx="3937000" cy="229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08" name="Text Box 56"/>
          <p:cNvSpPr txBox="1"/>
          <p:nvPr/>
        </p:nvSpPr>
        <p:spPr>
          <a:xfrm>
            <a:off x="673100" y="4279900"/>
            <a:ext cx="2093913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直角坐标系：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3609" name="Object 3"/>
          <p:cNvGraphicFramePr/>
          <p:nvPr/>
        </p:nvGraphicFramePr>
        <p:xfrm>
          <a:off x="3313113" y="4171950"/>
          <a:ext cx="31654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1028065" imgH="254000" progId="Equation.DSMT4">
                  <p:embed/>
                </p:oleObj>
              </mc:Choice>
              <mc:Fallback>
                <p:oleObj name="" r:id="rId3" imgW="1028065" imgH="2540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3113" y="4171950"/>
                        <a:ext cx="3165475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0" name="Object 4"/>
          <p:cNvGraphicFramePr/>
          <p:nvPr/>
        </p:nvGraphicFramePr>
        <p:xfrm>
          <a:off x="7075488" y="4102100"/>
          <a:ext cx="380047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5" imgW="1167765" imgH="292100" progId="Equation.DSMT4">
                  <p:embed/>
                </p:oleObj>
              </mc:Choice>
              <mc:Fallback>
                <p:oleObj name="" r:id="rId5" imgW="1167765" imgH="2921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75488" y="4102100"/>
                        <a:ext cx="3800475" cy="709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11" name="Text Box 59"/>
          <p:cNvSpPr txBox="1"/>
          <p:nvPr/>
        </p:nvSpPr>
        <p:spPr>
          <a:xfrm>
            <a:off x="406400" y="1689100"/>
            <a:ext cx="11450638" cy="490538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定义：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由坐标原点引向考察点的矢量，简称位矢或矢径。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612" name="Text Box 60"/>
          <p:cNvSpPr txBox="1"/>
          <p:nvPr/>
        </p:nvSpPr>
        <p:spPr>
          <a:xfrm>
            <a:off x="722313" y="4856163"/>
            <a:ext cx="1947862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方向余弦： </a:t>
            </a:r>
            <a:endParaRPr lang="zh-CN" altLang="en-US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3613" name="Object 5"/>
          <p:cNvGraphicFramePr/>
          <p:nvPr/>
        </p:nvGraphicFramePr>
        <p:xfrm>
          <a:off x="3055938" y="4725988"/>
          <a:ext cx="1731962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7" imgW="673100" imgH="444500" progId="Equation.DSMT4">
                  <p:embed/>
                </p:oleObj>
              </mc:Choice>
              <mc:Fallback>
                <p:oleObj name="" r:id="rId7" imgW="673100" imgH="4445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5938" y="4725988"/>
                        <a:ext cx="1731962" cy="855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4" name="Object 6"/>
          <p:cNvGraphicFramePr/>
          <p:nvPr/>
        </p:nvGraphicFramePr>
        <p:xfrm>
          <a:off x="5376863" y="4762500"/>
          <a:ext cx="169068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9" imgW="660400" imgH="444500" progId="Equation.DSMT4">
                  <p:embed/>
                </p:oleObj>
              </mc:Choice>
              <mc:Fallback>
                <p:oleObj name="" r:id="rId9" imgW="660400" imgH="4445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76863" y="4762500"/>
                        <a:ext cx="1690687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5" name="Object 7"/>
          <p:cNvGraphicFramePr/>
          <p:nvPr/>
        </p:nvGraphicFramePr>
        <p:xfrm>
          <a:off x="7764463" y="4692650"/>
          <a:ext cx="18954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1" imgW="647700" imgH="444500" progId="Equation.DSMT4">
                  <p:embed/>
                </p:oleObj>
              </mc:Choice>
              <mc:Fallback>
                <p:oleObj name="" r:id="rId11" imgW="647700" imgH="4445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64463" y="4692650"/>
                        <a:ext cx="1895475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16" name="Object 8"/>
          <p:cNvGraphicFramePr/>
          <p:nvPr/>
        </p:nvGraphicFramePr>
        <p:xfrm>
          <a:off x="3924300" y="5664200"/>
          <a:ext cx="478313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3" imgW="1676400" imgH="228600" progId="Equation.DSMT4">
                  <p:embed/>
                </p:oleObj>
              </mc:Choice>
              <mc:Fallback>
                <p:oleObj name="" r:id="rId13" imgW="1676400" imgH="2286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24300" y="5664200"/>
                        <a:ext cx="4783138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3" name="组合 2"/>
          <p:cNvGrpSpPr/>
          <p:nvPr/>
        </p:nvGrpSpPr>
        <p:grpSpPr>
          <a:xfrm>
            <a:off x="1052513" y="1143000"/>
            <a:ext cx="2738437" cy="508000"/>
            <a:chOff x="827584" y="857886"/>
            <a:chExt cx="2055366" cy="380873"/>
          </a:xfrm>
        </p:grpSpPr>
        <p:sp>
          <p:nvSpPr>
            <p:cNvPr id="5134" name="Text Box 2"/>
            <p:cNvSpPr/>
            <p:nvPr/>
          </p:nvSpPr>
          <p:spPr>
            <a:xfrm>
              <a:off x="827584" y="857886"/>
              <a:ext cx="2055366" cy="380873"/>
            </a:xfrm>
            <a:prstGeom prst="homePlate">
              <a:avLst>
                <a:gd name="adj" fmla="val 49842"/>
              </a:avLst>
            </a:prstGeom>
            <a:solidFill>
              <a:srgbClr val="539A84"/>
            </a:solidFill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一、位置矢量</a:t>
              </a:r>
              <a:endPara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5129" name="Object 9"/>
            <p:cNvGraphicFramePr/>
            <p:nvPr/>
          </p:nvGraphicFramePr>
          <p:xfrm>
            <a:off x="2450579" y="911662"/>
            <a:ext cx="360363" cy="294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5" imgW="127000" imgH="177165" progId="Equation.DSMT4">
                    <p:embed/>
                  </p:oleObj>
                </mc:Choice>
                <mc:Fallback>
                  <p:oleObj name="" r:id="rId15" imgW="127000" imgH="177165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450579" y="911662"/>
                          <a:ext cx="360363" cy="2940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08" grpId="0"/>
      <p:bldP spid="23611" grpId="0"/>
      <p:bldP spid="236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ext Box 2"/>
          <p:cNvSpPr txBox="1"/>
          <p:nvPr/>
        </p:nvSpPr>
        <p:spPr>
          <a:xfrm>
            <a:off x="304800" y="1104900"/>
            <a:ext cx="5384800" cy="490538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 eaLnBrk="0" hangingPunct="0"/>
            <a:r>
              <a: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运动方程和轨迹方程</a:t>
            </a:r>
            <a:endParaRPr lang="zh-CN" altLang="en-US" sz="2400" b="1" dirty="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04" name="Text Box 4"/>
          <p:cNvSpPr txBox="1"/>
          <p:nvPr/>
        </p:nvSpPr>
        <p:spPr>
          <a:xfrm>
            <a:off x="1219200" y="3001963"/>
            <a:ext cx="1639888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pPr eaLnBrk="0" hangingPunct="0"/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分量式：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5605" name="Object 2"/>
          <p:cNvGraphicFramePr/>
          <p:nvPr/>
        </p:nvGraphicFramePr>
        <p:xfrm>
          <a:off x="3790950" y="2951163"/>
          <a:ext cx="55689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1765300" imgH="203200" progId="Equation.DSMT4">
                  <p:embed/>
                </p:oleObj>
              </mc:Choice>
              <mc:Fallback>
                <p:oleObj name="" r:id="rId1" imgW="1765300" imgH="2032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0950" y="2951163"/>
                        <a:ext cx="5568950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3"/>
          <p:cNvGraphicFramePr/>
          <p:nvPr/>
        </p:nvGraphicFramePr>
        <p:xfrm>
          <a:off x="3810000" y="2298700"/>
          <a:ext cx="55499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1955165" imgH="254000" progId="Equation.DSMT4">
                  <p:embed/>
                </p:oleObj>
              </mc:Choice>
              <mc:Fallback>
                <p:oleObj name="" r:id="rId3" imgW="1955165" imgH="2540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0" y="2298700"/>
                        <a:ext cx="5549900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Text Box 8"/>
          <p:cNvSpPr txBox="1"/>
          <p:nvPr/>
        </p:nvSpPr>
        <p:spPr>
          <a:xfrm>
            <a:off x="1295400" y="3632200"/>
            <a:ext cx="4425950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运动方程是时间</a:t>
            </a:r>
            <a:r>
              <a:rPr lang="en-US" altLang="zh-CN" sz="2400" b="1" i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 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的显函数。 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09" name="Text Box 9"/>
          <p:cNvSpPr txBox="1"/>
          <p:nvPr/>
        </p:nvSpPr>
        <p:spPr>
          <a:xfrm>
            <a:off x="304800" y="1735138"/>
            <a:ext cx="11887200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 eaLnBrk="0" hangingPunct="0"/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运动方程：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质点在运动过程中，空间位置随时间变化的函数式。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10" name="Text Box 10"/>
          <p:cNvSpPr txBox="1"/>
          <p:nvPr/>
        </p:nvSpPr>
        <p:spPr>
          <a:xfrm>
            <a:off x="101600" y="4265613"/>
            <a:ext cx="7324725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轨迹方程：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质点在空间所经过的路径或运动轨迹。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11" name="Text Box 11"/>
          <p:cNvSpPr txBox="1"/>
          <p:nvPr/>
        </p:nvSpPr>
        <p:spPr>
          <a:xfrm>
            <a:off x="1200150" y="4895850"/>
            <a:ext cx="9266238" cy="493713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运动方程中消去时间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 </a:t>
            </a:r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即可得到轨迹方程。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12" name="Text Box 12"/>
          <p:cNvSpPr txBox="1"/>
          <p:nvPr/>
        </p:nvSpPr>
        <p:spPr>
          <a:xfrm>
            <a:off x="1458913" y="5529263"/>
            <a:ext cx="9245600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轨道方程不是时间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 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显函数。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13" name="Text Box 13"/>
          <p:cNvSpPr txBox="1"/>
          <p:nvPr/>
        </p:nvSpPr>
        <p:spPr>
          <a:xfrm>
            <a:off x="1200150" y="2368550"/>
            <a:ext cx="1639888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pPr eaLnBrk="0" hangingPunct="0"/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矢量式：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4" grpId="0"/>
      <p:bldP spid="25608" grpId="0"/>
      <p:bldP spid="25609" grpId="0"/>
      <p:bldP spid="25610" grpId="0"/>
      <p:bldP spid="25611" grpId="0"/>
      <p:bldP spid="25612" grpId="0"/>
      <p:bldP spid="256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4" name="Text Box 6"/>
          <p:cNvSpPr txBox="1"/>
          <p:nvPr/>
        </p:nvSpPr>
        <p:spPr>
          <a:xfrm>
            <a:off x="989013" y="1689100"/>
            <a:ext cx="10868025" cy="490538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：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由起始位置指向终了位置的有向线段；△</a:t>
            </a:r>
            <a:r>
              <a:rPr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时间内位置矢量的增量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7656" name="Object 2"/>
          <p:cNvGraphicFramePr/>
          <p:nvPr/>
        </p:nvGraphicFramePr>
        <p:xfrm>
          <a:off x="2446496" y="3716496"/>
          <a:ext cx="2150745" cy="436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698500" imgH="228600" progId="Equation.DSMT4">
                  <p:embed/>
                </p:oleObj>
              </mc:Choice>
              <mc:Fallback>
                <p:oleObj name="" r:id="rId1" imgW="698500" imgH="2286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46496" y="3716496"/>
                        <a:ext cx="2150745" cy="4362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3"/>
          <p:cNvGraphicFramePr/>
          <p:nvPr/>
        </p:nvGraphicFramePr>
        <p:xfrm>
          <a:off x="3027363" y="4867275"/>
          <a:ext cx="836136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3" imgW="3111500" imgH="330200" progId="Equation.DSMT4">
                  <p:embed/>
                </p:oleObj>
              </mc:Choice>
              <mc:Fallback>
                <p:oleObj name="" r:id="rId3" imgW="3111500" imgH="3302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7363" y="4867275"/>
                        <a:ext cx="8361362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4"/>
          <p:cNvGraphicFramePr/>
          <p:nvPr/>
        </p:nvGraphicFramePr>
        <p:xfrm>
          <a:off x="8020050" y="3621088"/>
          <a:ext cx="23955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5" imgW="889000" imgH="228600" progId="Equation.DSMT4">
                  <p:embed/>
                </p:oleObj>
              </mc:Choice>
              <mc:Fallback>
                <p:oleObj name="" r:id="rId5" imgW="889000" imgH="2286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20050" y="3621088"/>
                        <a:ext cx="2395538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6"/>
          <p:cNvGrpSpPr/>
          <p:nvPr/>
        </p:nvGrpSpPr>
        <p:grpSpPr>
          <a:xfrm>
            <a:off x="1466850" y="2095500"/>
            <a:ext cx="4437063" cy="1860550"/>
            <a:chOff x="920" y="1575"/>
            <a:chExt cx="1752" cy="1280"/>
          </a:xfrm>
        </p:grpSpPr>
        <p:grpSp>
          <p:nvGrpSpPr>
            <p:cNvPr id="7214" name="Group 18"/>
            <p:cNvGrpSpPr/>
            <p:nvPr/>
          </p:nvGrpSpPr>
          <p:grpSpPr>
            <a:xfrm>
              <a:off x="920" y="1710"/>
              <a:ext cx="1752" cy="1145"/>
              <a:chOff x="0" y="0"/>
              <a:chExt cx="1840" cy="1334"/>
            </a:xfrm>
          </p:grpSpPr>
          <p:grpSp>
            <p:nvGrpSpPr>
              <p:cNvPr id="7226" name="Group 19"/>
              <p:cNvGrpSpPr/>
              <p:nvPr/>
            </p:nvGrpSpPr>
            <p:grpSpPr>
              <a:xfrm>
                <a:off x="0" y="0"/>
                <a:ext cx="1840" cy="1296"/>
                <a:chOff x="0" y="0"/>
                <a:chExt cx="1840" cy="1296"/>
              </a:xfrm>
            </p:grpSpPr>
            <p:sp>
              <p:nvSpPr>
                <p:cNvPr id="7227" name="Line 20"/>
                <p:cNvSpPr/>
                <p:nvPr/>
              </p:nvSpPr>
              <p:spPr>
                <a:xfrm>
                  <a:off x="438" y="896"/>
                  <a:ext cx="1402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sm" len="med"/>
                </a:ln>
              </p:spPr>
            </p:sp>
            <p:sp>
              <p:nvSpPr>
                <p:cNvPr id="7228" name="Line 21"/>
                <p:cNvSpPr/>
                <p:nvPr/>
              </p:nvSpPr>
              <p:spPr>
                <a:xfrm flipH="1">
                  <a:off x="0" y="889"/>
                  <a:ext cx="439" cy="407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sm" len="med"/>
                </a:ln>
              </p:spPr>
            </p:sp>
            <p:sp>
              <p:nvSpPr>
                <p:cNvPr id="7229" name="Line 22"/>
                <p:cNvSpPr/>
                <p:nvPr/>
              </p:nvSpPr>
              <p:spPr>
                <a:xfrm flipV="1">
                  <a:off x="435" y="0"/>
                  <a:ext cx="0" cy="889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sm" len="med"/>
                </a:ln>
              </p:spPr>
            </p:sp>
          </p:grpSp>
          <p:graphicFrame>
            <p:nvGraphicFramePr>
              <p:cNvPr id="7189" name="Object 5"/>
              <p:cNvGraphicFramePr/>
              <p:nvPr/>
            </p:nvGraphicFramePr>
            <p:xfrm>
              <a:off x="96" y="1200"/>
              <a:ext cx="144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2" name="" r:id="rId7" imgW="177800" imgH="165100" progId="Equation.3">
                      <p:embed/>
                    </p:oleObj>
                  </mc:Choice>
                  <mc:Fallback>
                    <p:oleObj name="" r:id="rId7" imgW="177800" imgH="165100" progId="Equation.3">
                      <p:embed/>
                      <p:pic>
                        <p:nvPicPr>
                          <p:cNvPr id="0" name="图片 3131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96" y="1200"/>
                            <a:ext cx="144" cy="13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0" name="Object 6"/>
              <p:cNvGraphicFramePr/>
              <p:nvPr/>
            </p:nvGraphicFramePr>
            <p:xfrm>
              <a:off x="1695" y="960"/>
              <a:ext cx="113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4" name="" r:id="rId9" imgW="139700" imgH="165100" progId="Equation.3">
                      <p:embed/>
                    </p:oleObj>
                  </mc:Choice>
                  <mc:Fallback>
                    <p:oleObj name="" r:id="rId9" imgW="139700" imgH="165100" progId="Equation.3">
                      <p:embed/>
                      <p:pic>
                        <p:nvPicPr>
                          <p:cNvPr id="0" name="图片 3133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695" y="960"/>
                            <a:ext cx="113" cy="13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1" name="Object 7"/>
              <p:cNvGraphicFramePr/>
              <p:nvPr/>
            </p:nvGraphicFramePr>
            <p:xfrm>
              <a:off x="283" y="0"/>
              <a:ext cx="124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5" name="" r:id="rId11" imgW="152400" imgH="165100" progId="Equation.3">
                      <p:embed/>
                    </p:oleObj>
                  </mc:Choice>
                  <mc:Fallback>
                    <p:oleObj name="" r:id="rId11" imgW="152400" imgH="165100" progId="Equation.3">
                      <p:embed/>
                      <p:pic>
                        <p:nvPicPr>
                          <p:cNvPr id="0" name="图片 313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83" y="0"/>
                            <a:ext cx="124" cy="13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215" name="未知"/>
            <p:cNvSpPr/>
            <p:nvPr/>
          </p:nvSpPr>
          <p:spPr>
            <a:xfrm>
              <a:off x="992" y="1719"/>
              <a:ext cx="1418" cy="357"/>
            </a:xfrm>
            <a:custGeom>
              <a:avLst/>
              <a:gdLst>
                <a:gd name="txL" fmla="*/ 0 w 3545"/>
                <a:gd name="txT" fmla="*/ 0 h 894"/>
                <a:gd name="txR" fmla="*/ 3545 w 3545"/>
                <a:gd name="txB" fmla="*/ 894 h 89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545" h="894">
                  <a:moveTo>
                    <a:pt x="0" y="655"/>
                  </a:moveTo>
                  <a:cubicBezTo>
                    <a:pt x="113" y="694"/>
                    <a:pt x="468" y="880"/>
                    <a:pt x="681" y="887"/>
                  </a:cubicBezTo>
                  <a:cubicBezTo>
                    <a:pt x="894" y="894"/>
                    <a:pt x="1028" y="840"/>
                    <a:pt x="1281" y="695"/>
                  </a:cubicBezTo>
                  <a:cubicBezTo>
                    <a:pt x="1534" y="550"/>
                    <a:pt x="1896" y="0"/>
                    <a:pt x="2201" y="15"/>
                  </a:cubicBezTo>
                  <a:cubicBezTo>
                    <a:pt x="2506" y="30"/>
                    <a:pt x="2889" y="703"/>
                    <a:pt x="3113" y="783"/>
                  </a:cubicBezTo>
                  <a:cubicBezTo>
                    <a:pt x="3337" y="863"/>
                    <a:pt x="3455" y="555"/>
                    <a:pt x="3545" y="495"/>
                  </a:cubicBezTo>
                </a:path>
              </a:pathLst>
            </a:custGeom>
            <a:noFill/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7216" name="Group 27"/>
            <p:cNvGrpSpPr/>
            <p:nvPr/>
          </p:nvGrpSpPr>
          <p:grpSpPr>
            <a:xfrm>
              <a:off x="1312" y="1927"/>
              <a:ext cx="304" cy="567"/>
              <a:chOff x="0" y="0"/>
              <a:chExt cx="304" cy="567"/>
            </a:xfrm>
          </p:grpSpPr>
          <p:grpSp>
            <p:nvGrpSpPr>
              <p:cNvPr id="7223" name="Group 28"/>
              <p:cNvGrpSpPr/>
              <p:nvPr/>
            </p:nvGrpSpPr>
            <p:grpSpPr>
              <a:xfrm>
                <a:off x="25" y="0"/>
                <a:ext cx="279" cy="567"/>
                <a:chOff x="0" y="0"/>
                <a:chExt cx="279" cy="567"/>
              </a:xfrm>
            </p:grpSpPr>
            <p:sp>
              <p:nvSpPr>
                <p:cNvPr id="7224" name="Oval 29"/>
                <p:cNvSpPr/>
                <p:nvPr/>
              </p:nvSpPr>
              <p:spPr>
                <a:xfrm>
                  <a:off x="183" y="0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7225" name="Line 30"/>
                <p:cNvSpPr/>
                <p:nvPr/>
              </p:nvSpPr>
              <p:spPr>
                <a:xfrm flipV="1">
                  <a:off x="0" y="24"/>
                  <a:ext cx="231" cy="543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med"/>
                </a:ln>
              </p:spPr>
            </p:sp>
          </p:grpSp>
          <p:graphicFrame>
            <p:nvGraphicFramePr>
              <p:cNvPr id="7188" name="Object 8"/>
              <p:cNvGraphicFramePr/>
              <p:nvPr/>
            </p:nvGraphicFramePr>
            <p:xfrm>
              <a:off x="0" y="113"/>
              <a:ext cx="153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3" name="" r:id="rId13" imgW="127000" imgH="228600" progId="Equation.DSMT4">
                      <p:embed/>
                    </p:oleObj>
                  </mc:Choice>
                  <mc:Fallback>
                    <p:oleObj name="" r:id="rId13" imgW="127000" imgH="228600" progId="Equation.DSMT4">
                      <p:embed/>
                      <p:pic>
                        <p:nvPicPr>
                          <p:cNvPr id="0" name="图片 3132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0" y="113"/>
                            <a:ext cx="153" cy="27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217" name="Group 32"/>
            <p:cNvGrpSpPr/>
            <p:nvPr/>
          </p:nvGrpSpPr>
          <p:grpSpPr>
            <a:xfrm>
              <a:off x="1352" y="1887"/>
              <a:ext cx="800" cy="592"/>
              <a:chOff x="0" y="0"/>
              <a:chExt cx="800" cy="592"/>
            </a:xfrm>
          </p:grpSpPr>
          <p:grpSp>
            <p:nvGrpSpPr>
              <p:cNvPr id="7220" name="Group 33"/>
              <p:cNvGrpSpPr/>
              <p:nvPr/>
            </p:nvGrpSpPr>
            <p:grpSpPr>
              <a:xfrm>
                <a:off x="0" y="0"/>
                <a:ext cx="800" cy="592"/>
                <a:chOff x="0" y="0"/>
                <a:chExt cx="800" cy="592"/>
              </a:xfrm>
            </p:grpSpPr>
            <p:sp>
              <p:nvSpPr>
                <p:cNvPr id="7221" name="Oval 34"/>
                <p:cNvSpPr/>
                <p:nvPr/>
              </p:nvSpPr>
              <p:spPr>
                <a:xfrm>
                  <a:off x="704" y="0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7222" name="Line 35"/>
                <p:cNvSpPr/>
                <p:nvPr/>
              </p:nvSpPr>
              <p:spPr>
                <a:xfrm flipV="1">
                  <a:off x="0" y="48"/>
                  <a:ext cx="752" cy="544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med"/>
                </a:ln>
              </p:spPr>
            </p:sp>
          </p:grpSp>
          <p:graphicFrame>
            <p:nvGraphicFramePr>
              <p:cNvPr id="7187" name="Object 9"/>
              <p:cNvGraphicFramePr/>
              <p:nvPr/>
            </p:nvGraphicFramePr>
            <p:xfrm>
              <a:off x="368" y="232"/>
              <a:ext cx="168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7" name="" r:id="rId15" imgW="139700" imgH="228600" progId="Equation.DSMT4">
                      <p:embed/>
                    </p:oleObj>
                  </mc:Choice>
                  <mc:Fallback>
                    <p:oleObj name="" r:id="rId15" imgW="139700" imgH="228600" progId="Equation.DSMT4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68" y="232"/>
                            <a:ext cx="168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218" name="Group 37"/>
            <p:cNvGrpSpPr/>
            <p:nvPr/>
          </p:nvGrpSpPr>
          <p:grpSpPr>
            <a:xfrm>
              <a:off x="1435" y="1786"/>
              <a:ext cx="862" cy="347"/>
              <a:chOff x="-45" y="-5"/>
              <a:chExt cx="862" cy="347"/>
            </a:xfrm>
          </p:grpSpPr>
          <p:sp>
            <p:nvSpPr>
              <p:cNvPr id="7219" name="Line 38"/>
              <p:cNvSpPr/>
              <p:nvPr/>
            </p:nvSpPr>
            <p:spPr>
              <a:xfrm>
                <a:off x="96" y="144"/>
                <a:ext cx="528" cy="0"/>
              </a:xfrm>
              <a:prstGeom prst="line">
                <a:avLst/>
              </a:prstGeom>
              <a:ln w="28575" cap="flat" cmpd="sng">
                <a:solidFill>
                  <a:schemeClr val="accent1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7184" name="Object 10"/>
              <p:cNvGraphicFramePr/>
              <p:nvPr/>
            </p:nvGraphicFramePr>
            <p:xfrm>
              <a:off x="192" y="146"/>
              <a:ext cx="240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9" name="" r:id="rId17" imgW="215900" imgH="177800" progId="Equation.DSMT4">
                      <p:embed/>
                    </p:oleObj>
                  </mc:Choice>
                  <mc:Fallback>
                    <p:oleObj name="" r:id="rId17" imgW="215900" imgH="177800" progId="Equation.DSMT4">
                      <p:embed/>
                      <p:pic>
                        <p:nvPicPr>
                          <p:cNvPr id="0" name="图片 3128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92" y="146"/>
                            <a:ext cx="240" cy="1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5" name="Object 11"/>
              <p:cNvGraphicFramePr/>
              <p:nvPr/>
            </p:nvGraphicFramePr>
            <p:xfrm>
              <a:off x="-45" y="0"/>
              <a:ext cx="141" cy="1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0" name="" r:id="rId19" imgW="152400" imgH="165100" progId="Equation.3">
                      <p:embed/>
                    </p:oleObj>
                  </mc:Choice>
                  <mc:Fallback>
                    <p:oleObj name="" r:id="rId19" imgW="152400" imgH="165100" progId="Equation.3">
                      <p:embed/>
                      <p:pic>
                        <p:nvPicPr>
                          <p:cNvPr id="0" name="图片 3129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-45" y="0"/>
                            <a:ext cx="141" cy="15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6" name="Object 12"/>
              <p:cNvGraphicFramePr/>
              <p:nvPr/>
            </p:nvGraphicFramePr>
            <p:xfrm>
              <a:off x="672" y="-5"/>
              <a:ext cx="145" cy="1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1" name="" r:id="rId21" imgW="152400" imgH="165100" progId="Equation.3">
                      <p:embed/>
                    </p:oleObj>
                  </mc:Choice>
                  <mc:Fallback>
                    <p:oleObj name="" r:id="rId21" imgW="152400" imgH="165100" progId="Equation.3">
                      <p:embed/>
                      <p:pic>
                        <p:nvPicPr>
                          <p:cNvPr id="0" name="图片 3130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672" y="-5"/>
                            <a:ext cx="145" cy="15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183" name="Object 13"/>
            <p:cNvGraphicFramePr/>
            <p:nvPr/>
          </p:nvGraphicFramePr>
          <p:xfrm>
            <a:off x="1720" y="1575"/>
            <a:ext cx="21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23" imgW="228600" imgH="177800" progId="Equation.3">
                    <p:embed/>
                  </p:oleObj>
                </mc:Choice>
                <mc:Fallback>
                  <p:oleObj name="" r:id="rId23" imgW="228600" imgH="1778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720" y="1575"/>
                          <a:ext cx="216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95"/>
          <p:cNvGrpSpPr/>
          <p:nvPr/>
        </p:nvGrpSpPr>
        <p:grpSpPr>
          <a:xfrm>
            <a:off x="6837363" y="2286000"/>
            <a:ext cx="4043718" cy="1346200"/>
            <a:chOff x="3281" y="1871"/>
            <a:chExt cx="1450" cy="703"/>
          </a:xfrm>
        </p:grpSpPr>
        <p:grpSp>
          <p:nvGrpSpPr>
            <p:cNvPr id="7200" name="Group 43"/>
            <p:cNvGrpSpPr/>
            <p:nvPr/>
          </p:nvGrpSpPr>
          <p:grpSpPr>
            <a:xfrm>
              <a:off x="3281" y="2007"/>
              <a:ext cx="279" cy="567"/>
              <a:chOff x="25" y="0"/>
              <a:chExt cx="279" cy="567"/>
            </a:xfrm>
          </p:grpSpPr>
          <p:grpSp>
            <p:nvGrpSpPr>
              <p:cNvPr id="7211" name="Group 44"/>
              <p:cNvGrpSpPr/>
              <p:nvPr/>
            </p:nvGrpSpPr>
            <p:grpSpPr>
              <a:xfrm>
                <a:off x="25" y="0"/>
                <a:ext cx="279" cy="567"/>
                <a:chOff x="0" y="0"/>
                <a:chExt cx="279" cy="567"/>
              </a:xfrm>
            </p:grpSpPr>
            <p:sp>
              <p:nvSpPr>
                <p:cNvPr id="7212" name="Oval 45"/>
                <p:cNvSpPr/>
                <p:nvPr/>
              </p:nvSpPr>
              <p:spPr>
                <a:xfrm>
                  <a:off x="183" y="0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7213" name="Line 46"/>
                <p:cNvSpPr/>
                <p:nvPr/>
              </p:nvSpPr>
              <p:spPr>
                <a:xfrm flipV="1">
                  <a:off x="0" y="24"/>
                  <a:ext cx="231" cy="543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med"/>
                </a:ln>
              </p:spPr>
            </p:sp>
          </p:grpSp>
          <p:graphicFrame>
            <p:nvGraphicFramePr>
              <p:cNvPr id="7182" name="Object 14"/>
              <p:cNvGraphicFramePr/>
              <p:nvPr/>
            </p:nvGraphicFramePr>
            <p:xfrm>
              <a:off x="35" y="95"/>
              <a:ext cx="139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3" name="" r:id="rId25" imgW="127000" imgH="228600" progId="Equation.DSMT4">
                      <p:embed/>
                    </p:oleObj>
                  </mc:Choice>
                  <mc:Fallback>
                    <p:oleObj name="" r:id="rId25" imgW="127000" imgH="228600" progId="Equation.DSMT4">
                      <p:embed/>
                      <p:pic>
                        <p:nvPicPr>
                          <p:cNvPr id="0" name="图片 3142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35" y="95"/>
                            <a:ext cx="139" cy="2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201" name="Group 48"/>
            <p:cNvGrpSpPr/>
            <p:nvPr/>
          </p:nvGrpSpPr>
          <p:grpSpPr>
            <a:xfrm>
              <a:off x="3296" y="1975"/>
              <a:ext cx="800" cy="592"/>
              <a:chOff x="0" y="0"/>
              <a:chExt cx="800" cy="592"/>
            </a:xfrm>
          </p:grpSpPr>
          <p:grpSp>
            <p:nvGrpSpPr>
              <p:cNvPr id="7208" name="Group 49"/>
              <p:cNvGrpSpPr/>
              <p:nvPr/>
            </p:nvGrpSpPr>
            <p:grpSpPr>
              <a:xfrm>
                <a:off x="0" y="0"/>
                <a:ext cx="800" cy="592"/>
                <a:chOff x="0" y="0"/>
                <a:chExt cx="800" cy="592"/>
              </a:xfrm>
            </p:grpSpPr>
            <p:sp>
              <p:nvSpPr>
                <p:cNvPr id="7209" name="Oval 50"/>
                <p:cNvSpPr/>
                <p:nvPr/>
              </p:nvSpPr>
              <p:spPr>
                <a:xfrm>
                  <a:off x="704" y="0"/>
                  <a:ext cx="96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7210" name="Line 51"/>
                <p:cNvSpPr/>
                <p:nvPr/>
              </p:nvSpPr>
              <p:spPr>
                <a:xfrm flipV="1">
                  <a:off x="0" y="48"/>
                  <a:ext cx="752" cy="544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med"/>
                </a:ln>
              </p:spPr>
            </p:sp>
          </p:grpSp>
          <p:graphicFrame>
            <p:nvGraphicFramePr>
              <p:cNvPr id="7181" name="Object 15"/>
              <p:cNvGraphicFramePr/>
              <p:nvPr/>
            </p:nvGraphicFramePr>
            <p:xfrm>
              <a:off x="368" y="293"/>
              <a:ext cx="119" cy="1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0" name="" r:id="rId27" imgW="139700" imgH="228600" progId="Equation.DSMT4">
                      <p:embed/>
                    </p:oleObj>
                  </mc:Choice>
                  <mc:Fallback>
                    <p:oleObj name="" r:id="rId27" imgW="139700" imgH="228600" progId="Equation.DSMT4">
                      <p:embed/>
                      <p:pic>
                        <p:nvPicPr>
                          <p:cNvPr id="0" name="图片 3139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368" y="293"/>
                            <a:ext cx="119" cy="19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202" name="Group 53"/>
            <p:cNvGrpSpPr/>
            <p:nvPr/>
          </p:nvGrpSpPr>
          <p:grpSpPr>
            <a:xfrm>
              <a:off x="3394" y="1871"/>
              <a:ext cx="805" cy="144"/>
              <a:chOff x="-22" y="80"/>
              <a:chExt cx="805" cy="144"/>
            </a:xfrm>
          </p:grpSpPr>
          <p:sp>
            <p:nvSpPr>
              <p:cNvPr id="7207" name="Line 54"/>
              <p:cNvSpPr/>
              <p:nvPr/>
            </p:nvSpPr>
            <p:spPr>
              <a:xfrm>
                <a:off x="96" y="224"/>
                <a:ext cx="528" cy="0"/>
              </a:xfrm>
              <a:prstGeom prst="line">
                <a:avLst/>
              </a:prstGeom>
              <a:ln w="28575" cap="flat" cmpd="sng">
                <a:solidFill>
                  <a:schemeClr val="accent1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7178" name="Object 16"/>
              <p:cNvGraphicFramePr/>
              <p:nvPr/>
            </p:nvGraphicFramePr>
            <p:xfrm>
              <a:off x="288" y="91"/>
              <a:ext cx="157" cy="1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2" name="" r:id="rId29" imgW="215900" imgH="177800" progId="Equation.DSMT4">
                      <p:embed/>
                    </p:oleObj>
                  </mc:Choice>
                  <mc:Fallback>
                    <p:oleObj name="" r:id="rId29" imgW="215900" imgH="177800" progId="Equation.DSMT4">
                      <p:embed/>
                      <p:pic>
                        <p:nvPicPr>
                          <p:cNvPr id="0" name="图片 3141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288" y="91"/>
                            <a:ext cx="157" cy="13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9" name="Object 17"/>
              <p:cNvGraphicFramePr/>
              <p:nvPr/>
            </p:nvGraphicFramePr>
            <p:xfrm>
              <a:off x="-22" y="80"/>
              <a:ext cx="118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7" name="" r:id="rId31" imgW="152400" imgH="165100" progId="Equation.3">
                      <p:embed/>
                    </p:oleObj>
                  </mc:Choice>
                  <mc:Fallback>
                    <p:oleObj name="" r:id="rId31" imgW="152400" imgH="165100" progId="Equation.3">
                      <p:embed/>
                      <p:pic>
                        <p:nvPicPr>
                          <p:cNvPr id="0" name="图片 3146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-22" y="80"/>
                            <a:ext cx="118" cy="1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0" name="Object 18"/>
              <p:cNvGraphicFramePr/>
              <p:nvPr/>
            </p:nvGraphicFramePr>
            <p:xfrm>
              <a:off x="672" y="100"/>
              <a:ext cx="111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5" name="" r:id="rId32" imgW="152400" imgH="165100" progId="Equation.3">
                      <p:embed/>
                    </p:oleObj>
                  </mc:Choice>
                  <mc:Fallback>
                    <p:oleObj name="" r:id="rId32" imgW="152400" imgH="165100" progId="Equation.3">
                      <p:embed/>
                      <p:pic>
                        <p:nvPicPr>
                          <p:cNvPr id="0" name="图片 3144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672" y="100"/>
                            <a:ext cx="111" cy="12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203" name="Group 58"/>
            <p:cNvGrpSpPr/>
            <p:nvPr/>
          </p:nvGrpSpPr>
          <p:grpSpPr>
            <a:xfrm>
              <a:off x="3496" y="2023"/>
              <a:ext cx="288" cy="225"/>
              <a:chOff x="0" y="0"/>
              <a:chExt cx="288" cy="225"/>
            </a:xfrm>
          </p:grpSpPr>
          <p:sp>
            <p:nvSpPr>
              <p:cNvPr id="7206" name="Line 59"/>
              <p:cNvSpPr/>
              <p:nvPr/>
            </p:nvSpPr>
            <p:spPr>
              <a:xfrm>
                <a:off x="0" y="0"/>
                <a:ext cx="288" cy="20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headEnd type="none" w="med" len="med"/>
                <a:tailEnd type="triangle" w="med" len="med"/>
              </a:ln>
            </p:spPr>
          </p:sp>
          <p:graphicFrame>
            <p:nvGraphicFramePr>
              <p:cNvPr id="7177" name="Object 19"/>
              <p:cNvGraphicFramePr/>
              <p:nvPr/>
            </p:nvGraphicFramePr>
            <p:xfrm>
              <a:off x="0" y="51"/>
              <a:ext cx="164" cy="1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8" name="" r:id="rId34" imgW="215900" imgH="228600" progId="Equation.DSMT4">
                      <p:embed/>
                    </p:oleObj>
                  </mc:Choice>
                  <mc:Fallback>
                    <p:oleObj name="" r:id="rId34" imgW="215900" imgH="228600" progId="Equation.DSMT4">
                      <p:embed/>
                      <p:pic>
                        <p:nvPicPr>
                          <p:cNvPr id="0" name="图片 3147"/>
                          <p:cNvPicPr/>
                          <p:nvPr/>
                        </p:nvPicPr>
                        <p:blipFill>
                          <a:blip r:embed="rId35"/>
                          <a:stretch>
                            <a:fillRect/>
                          </a:stretch>
                        </p:blipFill>
                        <p:spPr>
                          <a:xfrm>
                            <a:off x="0" y="51"/>
                            <a:ext cx="164" cy="17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204" name="Group 61"/>
            <p:cNvGrpSpPr/>
            <p:nvPr/>
          </p:nvGrpSpPr>
          <p:grpSpPr>
            <a:xfrm>
              <a:off x="3760" y="2031"/>
              <a:ext cx="971" cy="289"/>
              <a:chOff x="0" y="0"/>
              <a:chExt cx="971" cy="289"/>
            </a:xfrm>
          </p:grpSpPr>
          <p:sp>
            <p:nvSpPr>
              <p:cNvPr id="7205" name="Line 62"/>
              <p:cNvSpPr/>
              <p:nvPr/>
            </p:nvSpPr>
            <p:spPr>
              <a:xfrm flipV="1">
                <a:off x="0" y="0"/>
                <a:ext cx="280" cy="19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7176" name="Object 20"/>
              <p:cNvGraphicFramePr/>
              <p:nvPr/>
            </p:nvGraphicFramePr>
            <p:xfrm>
              <a:off x="361" y="96"/>
              <a:ext cx="610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4" name="" r:id="rId36" imgW="800100" imgH="254000" progId="Equation.DSMT4">
                      <p:embed/>
                    </p:oleObj>
                  </mc:Choice>
                  <mc:Fallback>
                    <p:oleObj name="" r:id="rId36" imgW="800100" imgH="254000" progId="Equation.DSMT4">
                      <p:embed/>
                      <p:pic>
                        <p:nvPicPr>
                          <p:cNvPr id="0" name="图片 3143"/>
                          <p:cNvPicPr/>
                          <p:nvPr/>
                        </p:nvPicPr>
                        <p:blipFill>
                          <a:blip r:embed="rId37"/>
                          <a:stretch>
                            <a:fillRect/>
                          </a:stretch>
                        </p:blipFill>
                        <p:spPr>
                          <a:xfrm>
                            <a:off x="361" y="96"/>
                            <a:ext cx="610" cy="19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7745" name="Rectangle 97"/>
          <p:cNvSpPr/>
          <p:nvPr/>
        </p:nvSpPr>
        <p:spPr>
          <a:xfrm>
            <a:off x="527050" y="4953000"/>
            <a:ext cx="1477963" cy="493713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位移的模</a:t>
            </a:r>
            <a:endParaRPr lang="zh-CN" altLang="en-US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746" name="Rectangle 98"/>
          <p:cNvSpPr/>
          <p:nvPr/>
        </p:nvSpPr>
        <p:spPr>
          <a:xfrm>
            <a:off x="527050" y="5637213"/>
            <a:ext cx="1477963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模的增量</a:t>
            </a:r>
            <a:endParaRPr lang="zh-CN" altLang="en-US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7747" name="Object 21"/>
          <p:cNvGraphicFramePr/>
          <p:nvPr/>
        </p:nvGraphicFramePr>
        <p:xfrm>
          <a:off x="2940050" y="5473700"/>
          <a:ext cx="86328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38" imgW="2819400" imgH="292100" progId="Equation.DSMT4">
                  <p:embed/>
                </p:oleObj>
              </mc:Choice>
              <mc:Fallback>
                <p:oleObj name="" r:id="rId38" imgW="2819400" imgH="2921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940050" y="5473700"/>
                        <a:ext cx="8632825" cy="666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48" name="Rectangle 100"/>
          <p:cNvSpPr/>
          <p:nvPr/>
        </p:nvSpPr>
        <p:spPr>
          <a:xfrm>
            <a:off x="546100" y="4243388"/>
            <a:ext cx="2093913" cy="493712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直角坐标系中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7749" name="Object 22"/>
          <p:cNvGraphicFramePr/>
          <p:nvPr/>
        </p:nvGraphicFramePr>
        <p:xfrm>
          <a:off x="4481513" y="4229100"/>
          <a:ext cx="38830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40" imgW="1358265" imgH="254000" progId="Equation.DSMT4">
                  <p:embed/>
                </p:oleObj>
              </mc:Choice>
              <mc:Fallback>
                <p:oleObj name="" r:id="rId40" imgW="1358265" imgH="2540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481513" y="4229100"/>
                        <a:ext cx="388302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98" name="组合 61"/>
          <p:cNvGrpSpPr/>
          <p:nvPr/>
        </p:nvGrpSpPr>
        <p:grpSpPr>
          <a:xfrm>
            <a:off x="1103313" y="1143000"/>
            <a:ext cx="2547937" cy="508000"/>
            <a:chOff x="827584" y="857886"/>
            <a:chExt cx="2055366" cy="380873"/>
          </a:xfrm>
        </p:grpSpPr>
        <p:sp>
          <p:nvSpPr>
            <p:cNvPr id="7199" name="Text Box 2"/>
            <p:cNvSpPr/>
            <p:nvPr/>
          </p:nvSpPr>
          <p:spPr>
            <a:xfrm>
              <a:off x="827584" y="857886"/>
              <a:ext cx="2055366" cy="380873"/>
            </a:xfrm>
            <a:prstGeom prst="homePlate">
              <a:avLst>
                <a:gd name="adj" fmla="val 49842"/>
              </a:avLst>
            </a:prstGeom>
            <a:solidFill>
              <a:srgbClr val="539A84"/>
            </a:solidFill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7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二、位移</a:t>
              </a:r>
              <a:endPara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7175" name="Object 23"/>
            <p:cNvGraphicFramePr/>
            <p:nvPr/>
          </p:nvGraphicFramePr>
          <p:xfrm>
            <a:off x="2037874" y="906736"/>
            <a:ext cx="612775" cy="296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42" imgW="215900" imgH="177800" progId="Equation.DSMT4">
                    <p:embed/>
                  </p:oleObj>
                </mc:Choice>
                <mc:Fallback>
                  <p:oleObj name="" r:id="rId42" imgW="215900" imgH="177800" progId="Equation.DSMT4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2037874" y="906736"/>
                          <a:ext cx="612775" cy="2968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  <p:bldP spid="27745" grpId="0"/>
      <p:bldP spid="27746" grpId="0"/>
      <p:bldP spid="277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7" name="Text Box 5"/>
          <p:cNvSpPr txBox="1"/>
          <p:nvPr/>
        </p:nvSpPr>
        <p:spPr>
          <a:xfrm>
            <a:off x="912813" y="1263650"/>
            <a:ext cx="4991100" cy="533400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en-US" altLang="zh-CN" sz="27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7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位移与路程的区别与联系</a:t>
            </a:r>
            <a:endParaRPr lang="en-US" altLang="zh-CN" sz="2700" b="1" dirty="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678" name="Text Box 6"/>
          <p:cNvSpPr txBox="1"/>
          <p:nvPr/>
        </p:nvSpPr>
        <p:spPr>
          <a:xfrm>
            <a:off x="884238" y="2490788"/>
            <a:ext cx="1274762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 2" panose="05020102010507070707" pitchFamily="18" charset="2"/>
              </a:rPr>
              <a:t>区别：</a:t>
            </a:r>
            <a:endParaRPr lang="zh-CN" altLang="en-US" sz="2400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679" name="Rectangle 7"/>
          <p:cNvSpPr/>
          <p:nvPr/>
        </p:nvSpPr>
        <p:spPr>
          <a:xfrm>
            <a:off x="660400" y="4064000"/>
            <a:ext cx="4572000" cy="490538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联系：</a:t>
            </a:r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在△</a:t>
            </a:r>
            <a:r>
              <a:rPr lang="en-US" altLang="zh-CN" sz="2400" b="1" i="1" dirty="0">
                <a:solidFill>
                  <a:srgbClr val="000000"/>
                </a:solidFill>
                <a:latin typeface="Calibri" panose="020F0502020204030204" pitchFamily="34" charset="0"/>
                <a:ea typeface="华文中宋" panose="02010600040101010101" pitchFamily="2" charset="-12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→</a:t>
            </a:r>
            <a:r>
              <a:rPr lang="en-US" altLang="zh-CN" sz="2400" b="1" dirty="0">
                <a:solidFill>
                  <a:srgbClr val="000000"/>
                </a:solidFill>
                <a:latin typeface="Calibri" panose="020F0502020204030204" pitchFamily="34" charset="0"/>
                <a:ea typeface="华文中宋" panose="02010600040101010101" pitchFamily="2" charset="-122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时，</a:t>
            </a:r>
            <a:endParaRPr lang="zh-CN" altLang="en-US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8680" name="Object 2"/>
          <p:cNvGraphicFramePr/>
          <p:nvPr/>
        </p:nvGraphicFramePr>
        <p:xfrm>
          <a:off x="3790950" y="4065588"/>
          <a:ext cx="17287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545465" imgH="254000" progId="Equation.DSMT4">
                  <p:embed/>
                </p:oleObj>
              </mc:Choice>
              <mc:Fallback>
                <p:oleObj name="" r:id="rId1" imgW="545465" imgH="2540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0950" y="4065588"/>
                        <a:ext cx="1728788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3"/>
          <p:cNvGraphicFramePr/>
          <p:nvPr/>
        </p:nvGraphicFramePr>
        <p:xfrm>
          <a:off x="5897563" y="4064000"/>
          <a:ext cx="1824037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3" imgW="545465" imgH="254000" progId="Equation.DSMT4">
                  <p:embed/>
                </p:oleObj>
              </mc:Choice>
              <mc:Fallback>
                <p:oleObj name="" r:id="rId3" imgW="545465" imgH="2540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97563" y="4064000"/>
                        <a:ext cx="1824037" cy="627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Text Box 10"/>
          <p:cNvSpPr txBox="1"/>
          <p:nvPr/>
        </p:nvSpPr>
        <p:spPr>
          <a:xfrm>
            <a:off x="623888" y="1879600"/>
            <a:ext cx="7215187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pP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路程：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△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 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时间内质点在空间内实际运行的路径距离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8685" name="Object 4"/>
          <p:cNvGraphicFramePr/>
          <p:nvPr/>
        </p:nvGraphicFramePr>
        <p:xfrm>
          <a:off x="2159000" y="2711450"/>
          <a:ext cx="7540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5" imgW="215900" imgH="177800" progId="Equation.DSMT4">
                  <p:embed/>
                </p:oleObj>
              </mc:Choice>
              <mc:Fallback>
                <p:oleObj name="" r:id="rId5" imgW="215900" imgH="1778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59000" y="2711450"/>
                        <a:ext cx="754063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Rectangle 14"/>
          <p:cNvSpPr/>
          <p:nvPr/>
        </p:nvSpPr>
        <p:spPr>
          <a:xfrm>
            <a:off x="1898650" y="2754313"/>
            <a:ext cx="10293350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只与始末位置有关；△</a:t>
            </a:r>
            <a:r>
              <a:rPr lang="en-US" altLang="zh-CN" sz="2400" b="1" i="1" dirty="0">
                <a:solidFill>
                  <a:srgbClr val="000000"/>
                </a:solidFill>
                <a:latin typeface="Calibri" panose="020F0502020204030204" pitchFamily="34" charset="0"/>
                <a:ea typeface="华文中宋" panose="02010600040101010101" pitchFamily="2" charset="-122"/>
              </a:rPr>
              <a:t>S</a:t>
            </a:r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与轨道形状和往返次数有关</a:t>
            </a:r>
            <a:endParaRPr lang="zh-CN" altLang="en-US" sz="24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814388" y="3333750"/>
            <a:ext cx="4741862" cy="576263"/>
            <a:chOff x="0" y="251"/>
            <a:chExt cx="2241" cy="363"/>
          </a:xfrm>
        </p:grpSpPr>
        <p:graphicFrame>
          <p:nvGraphicFramePr>
            <p:cNvPr id="8202" name="Object 5"/>
            <p:cNvGraphicFramePr/>
            <p:nvPr/>
          </p:nvGraphicFramePr>
          <p:xfrm>
            <a:off x="1407" y="251"/>
            <a:ext cx="83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7" imgW="584200" imgH="254000" progId="Equation.DSMT4">
                    <p:embed/>
                  </p:oleObj>
                </mc:Choice>
                <mc:Fallback>
                  <p:oleObj name="" r:id="rId7" imgW="584200" imgH="254000" progId="Equation.DSMT4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07" y="251"/>
                          <a:ext cx="834" cy="363"/>
                        </a:xfrm>
                        <a:prstGeom prst="rect">
                          <a:avLst/>
                        </a:prstGeom>
                        <a:noFill/>
                        <a:ln w="381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4" name="Rectangle 17"/>
            <p:cNvSpPr/>
            <p:nvPr/>
          </p:nvSpPr>
          <p:spPr>
            <a:xfrm>
              <a:off x="0" y="299"/>
              <a:ext cx="2208" cy="2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因此，一般情况下</a:t>
              </a:r>
              <a:endPara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3" name="Group 18"/>
          <p:cNvGrpSpPr/>
          <p:nvPr/>
        </p:nvGrpSpPr>
        <p:grpSpPr>
          <a:xfrm>
            <a:off x="2147888" y="2278063"/>
            <a:ext cx="3556000" cy="460375"/>
            <a:chOff x="53" y="17"/>
            <a:chExt cx="1680" cy="291"/>
          </a:xfrm>
        </p:grpSpPr>
        <p:graphicFrame>
          <p:nvGraphicFramePr>
            <p:cNvPr id="8201" name="Object 6"/>
            <p:cNvGraphicFramePr/>
            <p:nvPr/>
          </p:nvGraphicFramePr>
          <p:xfrm>
            <a:off x="53" y="22"/>
            <a:ext cx="323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9" imgW="215900" imgH="177800" progId="Equation.DSMT4">
                    <p:embed/>
                  </p:oleObj>
                </mc:Choice>
                <mc:Fallback>
                  <p:oleObj name="" r:id="rId9" imgW="215900" imgH="177800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" y="22"/>
                          <a:ext cx="323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3" name="Rectangle 20"/>
            <p:cNvSpPr/>
            <p:nvPr/>
          </p:nvSpPr>
          <p:spPr>
            <a:xfrm>
              <a:off x="320" y="17"/>
              <a:ext cx="141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是矢量，</a:t>
              </a:r>
              <a:r>
                <a:rPr lang="zh-CN" altLang="en-US" sz="24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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Calibri" panose="020F0502020204030204" pitchFamily="34" charset="0"/>
                  <a:ea typeface="华文中宋" panose="02010600040101010101" pitchFamily="2" charset="-122"/>
                  <a:sym typeface="Symbol" panose="05050102010706020507" pitchFamily="18" charset="2"/>
                </a:rPr>
                <a:t>S</a:t>
              </a:r>
              <a:r>
                <a:rPr lang="zh-CN" altLang="en-US" sz="24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是</a:t>
              </a:r>
              <a:r>
                <a:rPr lang="zh-CN" altLang="en-US" sz="24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标量；</a:t>
              </a:r>
              <a:endPara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28693" name="Rectangle 21"/>
          <p:cNvSpPr/>
          <p:nvPr/>
        </p:nvSpPr>
        <p:spPr>
          <a:xfrm>
            <a:off x="719138" y="4648200"/>
            <a:ext cx="1330325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总之： 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4" name="Group 62"/>
          <p:cNvGrpSpPr/>
          <p:nvPr/>
        </p:nvGrpSpPr>
        <p:grpSpPr>
          <a:xfrm>
            <a:off x="7727950" y="3619500"/>
            <a:ext cx="3455988" cy="2027238"/>
            <a:chOff x="3470" y="2457"/>
            <a:chExt cx="1451" cy="1093"/>
          </a:xfrm>
        </p:grpSpPr>
        <p:sp>
          <p:nvSpPr>
            <p:cNvPr id="8212" name="Line 47"/>
            <p:cNvSpPr/>
            <p:nvPr/>
          </p:nvSpPr>
          <p:spPr>
            <a:xfrm flipV="1">
              <a:off x="3470" y="2991"/>
              <a:ext cx="982" cy="3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13" name="Line 48"/>
            <p:cNvSpPr/>
            <p:nvPr/>
          </p:nvSpPr>
          <p:spPr>
            <a:xfrm flipV="1">
              <a:off x="3470" y="3207"/>
              <a:ext cx="1043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14" name="Arc 49"/>
            <p:cNvSpPr/>
            <p:nvPr/>
          </p:nvSpPr>
          <p:spPr>
            <a:xfrm rot="1666223">
              <a:off x="3996" y="2828"/>
              <a:ext cx="595" cy="683"/>
            </a:xfrm>
            <a:custGeom>
              <a:avLst/>
              <a:gdLst>
                <a:gd name="txL" fmla="*/ 0 w 22583"/>
                <a:gd name="txT" fmla="*/ 0 h 21600"/>
                <a:gd name="txR" fmla="*/ 22583 w 22583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2583" h="21600" fill="none">
                  <a:moveTo>
                    <a:pt x="0" y="94"/>
                  </a:moveTo>
                  <a:cubicBezTo>
                    <a:pt x="670" y="31"/>
                    <a:pt x="1343" y="-1"/>
                    <a:pt x="2017" y="0"/>
                  </a:cubicBezTo>
                  <a:cubicBezTo>
                    <a:pt x="11402" y="0"/>
                    <a:pt x="19714" y="6061"/>
                    <a:pt x="22583" y="14997"/>
                  </a:cubicBezTo>
                </a:path>
                <a:path w="22583" h="21600" stroke="0">
                  <a:moveTo>
                    <a:pt x="0" y="94"/>
                  </a:moveTo>
                  <a:cubicBezTo>
                    <a:pt x="670" y="31"/>
                    <a:pt x="1343" y="-1"/>
                    <a:pt x="2017" y="0"/>
                  </a:cubicBezTo>
                  <a:cubicBezTo>
                    <a:pt x="11402" y="0"/>
                    <a:pt x="19714" y="6061"/>
                    <a:pt x="22583" y="14997"/>
                  </a:cubicBezTo>
                  <a:lnTo>
                    <a:pt x="2017" y="21600"/>
                  </a:lnTo>
                  <a:lnTo>
                    <a:pt x="0" y="9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15" name="未知"/>
            <p:cNvSpPr/>
            <p:nvPr/>
          </p:nvSpPr>
          <p:spPr>
            <a:xfrm>
              <a:off x="3768" y="3244"/>
              <a:ext cx="74" cy="74"/>
            </a:xfrm>
            <a:custGeom>
              <a:avLst/>
              <a:gdLst>
                <a:gd name="txL" fmla="*/ 0 w 58"/>
                <a:gd name="txT" fmla="*/ 0 h 49"/>
                <a:gd name="txR" fmla="*/ 58 w 58"/>
                <a:gd name="txB" fmla="*/ 49 h 49"/>
              </a:gdLst>
              <a:ahLst/>
              <a:cxnLst>
                <a:cxn ang="0">
                  <a:pos x="0" y="0"/>
                </a:cxn>
                <a:cxn ang="0">
                  <a:pos x="737" y="2214"/>
                </a:cxn>
                <a:cxn ang="0">
                  <a:pos x="843" y="4561"/>
                </a:cxn>
              </a:cxnLst>
              <a:rect l="txL" t="txT" r="txR" b="txB"/>
              <a:pathLst>
                <a:path w="58" h="49">
                  <a:moveTo>
                    <a:pt x="0" y="0"/>
                  </a:moveTo>
                  <a:cubicBezTo>
                    <a:pt x="16" y="5"/>
                    <a:pt x="39" y="10"/>
                    <a:pt x="50" y="24"/>
                  </a:cubicBezTo>
                  <a:cubicBezTo>
                    <a:pt x="55" y="31"/>
                    <a:pt x="58" y="49"/>
                    <a:pt x="58" y="49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8198" name="Object 7"/>
            <p:cNvGraphicFramePr/>
            <p:nvPr/>
          </p:nvGraphicFramePr>
          <p:xfrm>
            <a:off x="3581" y="2782"/>
            <a:ext cx="246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1" imgW="228600" imgH="177800" progId="Equation.3">
                    <p:embed/>
                  </p:oleObj>
                </mc:Choice>
                <mc:Fallback>
                  <p:oleObj name="" r:id="rId11" imgW="228600" imgH="1778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81" y="2782"/>
                          <a:ext cx="246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Line 52"/>
            <p:cNvSpPr/>
            <p:nvPr/>
          </p:nvSpPr>
          <p:spPr>
            <a:xfrm>
              <a:off x="3765" y="2973"/>
              <a:ext cx="18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8217" name="Group 53"/>
            <p:cNvGrpSpPr/>
            <p:nvPr/>
          </p:nvGrpSpPr>
          <p:grpSpPr>
            <a:xfrm>
              <a:off x="4450" y="3005"/>
              <a:ext cx="471" cy="545"/>
              <a:chOff x="0" y="0"/>
              <a:chExt cx="368" cy="364"/>
            </a:xfrm>
          </p:grpSpPr>
          <p:sp>
            <p:nvSpPr>
              <p:cNvPr id="8221" name="Line 54"/>
              <p:cNvSpPr/>
              <p:nvPr/>
            </p:nvSpPr>
            <p:spPr>
              <a:xfrm>
                <a:off x="0" y="0"/>
                <a:ext cx="48" cy="144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8200" name="Object 8"/>
              <p:cNvGraphicFramePr/>
              <p:nvPr/>
            </p:nvGraphicFramePr>
            <p:xfrm>
              <a:off x="160" y="170"/>
              <a:ext cx="208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2" name="" r:id="rId13" imgW="203200" imgH="190500" progId="Equation.DSMT4">
                      <p:embed/>
                    </p:oleObj>
                  </mc:Choice>
                  <mc:Fallback>
                    <p:oleObj name="" r:id="rId13" imgW="203200" imgH="190500" progId="Equation.DSMT4">
                      <p:embed/>
                      <p:pic>
                        <p:nvPicPr>
                          <p:cNvPr id="0" name="图片 3151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60" y="170"/>
                            <a:ext cx="208" cy="19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22" name="Line 56"/>
              <p:cNvSpPr/>
              <p:nvPr/>
            </p:nvSpPr>
            <p:spPr>
              <a:xfrm>
                <a:off x="64" y="128"/>
                <a:ext cx="144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</p:grpSp>
        <p:grpSp>
          <p:nvGrpSpPr>
            <p:cNvPr id="8218" name="Group 57"/>
            <p:cNvGrpSpPr/>
            <p:nvPr/>
          </p:nvGrpSpPr>
          <p:grpSpPr>
            <a:xfrm>
              <a:off x="4468" y="2457"/>
              <a:ext cx="228" cy="519"/>
              <a:chOff x="0" y="0"/>
              <a:chExt cx="247" cy="520"/>
            </a:xfrm>
          </p:grpSpPr>
          <p:graphicFrame>
            <p:nvGraphicFramePr>
              <p:cNvPr id="8199" name="Object 9"/>
              <p:cNvGraphicFramePr/>
              <p:nvPr/>
            </p:nvGraphicFramePr>
            <p:xfrm>
              <a:off x="48" y="0"/>
              <a:ext cx="199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7" name="" r:id="rId15" imgW="190500" imgH="177800" progId="Equation.3">
                      <p:embed/>
                    </p:oleObj>
                  </mc:Choice>
                  <mc:Fallback>
                    <p:oleObj name="" r:id="rId15" imgW="190500" imgH="177800" progId="Equation.3">
                      <p:embed/>
                      <p:pic>
                        <p:nvPicPr>
                          <p:cNvPr id="0" name="图片 3156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8" y="0"/>
                            <a:ext cx="199" cy="20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19" name="Line 59"/>
              <p:cNvSpPr/>
              <p:nvPr/>
            </p:nvSpPr>
            <p:spPr>
              <a:xfrm>
                <a:off x="114" y="216"/>
                <a:ext cx="0" cy="21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20" name="Line 60"/>
              <p:cNvSpPr/>
              <p:nvPr/>
            </p:nvSpPr>
            <p:spPr>
              <a:xfrm flipV="1">
                <a:off x="0" y="472"/>
                <a:ext cx="144" cy="4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aphicFrame>
        <p:nvGraphicFramePr>
          <p:cNvPr id="28736" name="Object 11"/>
          <p:cNvGraphicFramePr/>
          <p:nvPr/>
        </p:nvGraphicFramePr>
        <p:xfrm>
          <a:off x="2351088" y="4797425"/>
          <a:ext cx="32686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7" imgW="837565" imgH="254000" progId="Equation.DSMT4">
                  <p:embed/>
                </p:oleObj>
              </mc:Choice>
              <mc:Fallback>
                <p:oleObj name="" r:id="rId17" imgW="837565" imgH="2540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51088" y="4797425"/>
                        <a:ext cx="3268662" cy="536575"/>
                      </a:xfrm>
                      <a:prstGeom prst="rect">
                        <a:avLst/>
                      </a:prstGeom>
                      <a:noFill/>
                      <a:ln w="381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28678" grpId="0"/>
      <p:bldP spid="28679" grpId="0"/>
      <p:bldP spid="28682" grpId="0"/>
      <p:bldP spid="28686" grpId="0"/>
      <p:bldP spid="2869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Text Box 3"/>
          <p:cNvSpPr txBox="1"/>
          <p:nvPr/>
        </p:nvSpPr>
        <p:spPr>
          <a:xfrm>
            <a:off x="304800" y="2755900"/>
            <a:ext cx="3495675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平均速度与平均速率</a:t>
            </a:r>
            <a:r>
              <a:rPr lang="zh-CN" altLang="en-US" sz="2400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dirty="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9700" name="Object 2"/>
          <p:cNvGraphicFramePr/>
          <p:nvPr/>
        </p:nvGraphicFramePr>
        <p:xfrm>
          <a:off x="2640013" y="3440113"/>
          <a:ext cx="12287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482600" imgH="393700" progId="Equation.DSMT4">
                  <p:embed/>
                </p:oleObj>
              </mc:Choice>
              <mc:Fallback>
                <p:oleObj name="" r:id="rId1" imgW="482600" imgH="3937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40013" y="3440113"/>
                        <a:ext cx="1228725" cy="76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Text Box 11"/>
          <p:cNvSpPr txBox="1"/>
          <p:nvPr/>
        </p:nvSpPr>
        <p:spPr>
          <a:xfrm>
            <a:off x="711200" y="2071688"/>
            <a:ext cx="6280150" cy="493712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描述质点位置变化和方向变化快慢的物理量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568" name="Text Box 28"/>
          <p:cNvSpPr txBox="1"/>
          <p:nvPr/>
        </p:nvSpPr>
        <p:spPr>
          <a:xfrm>
            <a:off x="912813" y="4773613"/>
            <a:ext cx="2397125" cy="490537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在直角坐标系中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9"/>
          <p:cNvGrpSpPr/>
          <p:nvPr/>
        </p:nvGrpSpPr>
        <p:grpSpPr>
          <a:xfrm>
            <a:off x="6864350" y="3236913"/>
            <a:ext cx="5245100" cy="2471737"/>
            <a:chOff x="2151305" y="2883390"/>
            <a:chExt cx="4580935" cy="3016714"/>
          </a:xfrm>
        </p:grpSpPr>
        <p:pic>
          <p:nvPicPr>
            <p:cNvPr id="922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1305" y="2883390"/>
              <a:ext cx="4580935" cy="3016714"/>
            </a:xfrm>
            <a:prstGeom prst="rect">
              <a:avLst/>
            </a:prstGeom>
            <a:noFill/>
            <a:ln w="9525">
              <a:noFill/>
            </a:ln>
          </p:spPr>
        </p:pic>
        <p:graphicFrame>
          <p:nvGraphicFramePr>
            <p:cNvPr id="9221" name="Object 3"/>
            <p:cNvGraphicFramePr/>
            <p:nvPr/>
          </p:nvGraphicFramePr>
          <p:xfrm>
            <a:off x="4860032" y="3819451"/>
            <a:ext cx="504825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4" imgW="241300" imgH="228600" progId="Equation.DSMT4">
                    <p:embed/>
                  </p:oleObj>
                </mc:Choice>
                <mc:Fallback>
                  <p:oleObj name="" r:id="rId4" imgW="241300" imgH="228600" progId="Equation.DSMT4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60032" y="3819451"/>
                          <a:ext cx="504825" cy="401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2" name="Object 4"/>
            <p:cNvGraphicFramePr/>
            <p:nvPr/>
          </p:nvGraphicFramePr>
          <p:xfrm>
            <a:off x="4427984" y="3573016"/>
            <a:ext cx="454025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6" imgW="215900" imgH="228600" progId="Equation.DSMT4">
                    <p:embed/>
                  </p:oleObj>
                </mc:Choice>
                <mc:Fallback>
                  <p:oleObj name="" r:id="rId6" imgW="215900" imgH="228600" progId="Equation.DSMT4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427984" y="3573016"/>
                          <a:ext cx="454025" cy="4016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0" name="Line 25"/>
            <p:cNvSpPr/>
            <p:nvPr/>
          </p:nvSpPr>
          <p:spPr>
            <a:xfrm>
              <a:off x="5292080" y="3717032"/>
              <a:ext cx="792088" cy="43204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" name="矩形 18"/>
            <p:cNvSpPr/>
            <p:nvPr/>
          </p:nvSpPr>
          <p:spPr>
            <a:xfrm>
              <a:off x="5724268" y="3718459"/>
              <a:ext cx="144194" cy="213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702" name="Text Box 6"/>
          <p:cNvSpPr txBox="1"/>
          <p:nvPr/>
        </p:nvSpPr>
        <p:spPr>
          <a:xfrm>
            <a:off x="893763" y="4279900"/>
            <a:ext cx="6905625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读成</a:t>
            </a:r>
            <a:r>
              <a:rPr lang="en-US" altLang="zh-CN" sz="2400" b="1" i="1" dirty="0">
                <a:latin typeface="华文中宋" panose="02010600040101010101" pitchFamily="2" charset="-122"/>
                <a:ea typeface="华文中宋" panose="02010600040101010101" pitchFamily="2" charset="-122"/>
              </a:rPr>
              <a:t>t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时刻附近△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t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时间内的平均速度（或速率）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7" name="Object 5"/>
          <p:cNvGraphicFramePr/>
          <p:nvPr/>
        </p:nvGraphicFramePr>
        <p:xfrm>
          <a:off x="2241550" y="5276850"/>
          <a:ext cx="38544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8" imgW="1447165" imgH="393700" progId="Equation.DSMT4">
                  <p:embed/>
                </p:oleObj>
              </mc:Choice>
              <mc:Fallback>
                <p:oleObj name="" r:id="rId8" imgW="1447165" imgH="3937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41550" y="5276850"/>
                        <a:ext cx="3854450" cy="744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6"/>
          <p:cNvGraphicFramePr/>
          <p:nvPr/>
        </p:nvGraphicFramePr>
        <p:xfrm>
          <a:off x="5713413" y="3427413"/>
          <a:ext cx="11636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0" imgW="469900" imgH="406400" progId="Equation.DSMT4">
                  <p:embed/>
                </p:oleObj>
              </mc:Choice>
              <mc:Fallback>
                <p:oleObj name="" r:id="rId10" imgW="469900" imgH="4064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13413" y="3427413"/>
                        <a:ext cx="1163637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2"/>
          <p:cNvSpPr/>
          <p:nvPr/>
        </p:nvSpPr>
        <p:spPr>
          <a:xfrm>
            <a:off x="1008063" y="1262063"/>
            <a:ext cx="1919287" cy="534987"/>
          </a:xfrm>
          <a:prstGeom prst="homePlate">
            <a:avLst>
              <a:gd name="adj" fmla="val 49876"/>
            </a:avLst>
          </a:prstGeom>
          <a:solidFill>
            <a:srgbClr val="539A84"/>
          </a:solidFill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三、速度</a:t>
            </a:r>
            <a:endParaRPr lang="zh-CN" altLang="en-US" sz="2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/>
      <p:bldP spid="29707" grpId="0"/>
      <p:bldP spid="23568" grpId="0"/>
      <p:bldP spid="2970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2"/>
          <p:cNvSpPr txBox="1"/>
          <p:nvPr/>
        </p:nvSpPr>
        <p:spPr>
          <a:xfrm>
            <a:off x="334963" y="1208088"/>
            <a:ext cx="5486400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、瞬时速度与瞬时速率 </a:t>
            </a:r>
            <a:endParaRPr lang="zh-CN" altLang="en-US" sz="2400" b="1" dirty="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0723" name="Object 2"/>
          <p:cNvGraphicFramePr/>
          <p:nvPr/>
        </p:nvGraphicFramePr>
        <p:xfrm>
          <a:off x="4635500" y="1684338"/>
          <a:ext cx="261143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1054100" imgH="393700" progId="Equation.DSMT4">
                  <p:embed/>
                </p:oleObj>
              </mc:Choice>
              <mc:Fallback>
                <p:oleObj name="" r:id="rId1" imgW="1054100" imgH="3937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35500" y="1684338"/>
                        <a:ext cx="2611438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3"/>
          <p:cNvGraphicFramePr/>
          <p:nvPr/>
        </p:nvGraphicFramePr>
        <p:xfrm>
          <a:off x="4584700" y="2540000"/>
          <a:ext cx="264318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1028065" imgH="406400" progId="Equation.3">
                  <p:embed/>
                </p:oleObj>
              </mc:Choice>
              <mc:Fallback>
                <p:oleObj name="" r:id="rId3" imgW="1028065" imgH="4064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700" y="2540000"/>
                        <a:ext cx="2643188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4"/>
          <p:cNvGraphicFramePr/>
          <p:nvPr/>
        </p:nvGraphicFramePr>
        <p:xfrm>
          <a:off x="1871663" y="4579938"/>
          <a:ext cx="30734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5" imgW="1104900" imgH="431800" progId="Equation.DSMT4">
                  <p:embed/>
                </p:oleObj>
              </mc:Choice>
              <mc:Fallback>
                <p:oleObj name="" r:id="rId5" imgW="1104900" imgH="4318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1663" y="4579938"/>
                        <a:ext cx="3073400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Text Box 16"/>
          <p:cNvSpPr txBox="1"/>
          <p:nvPr/>
        </p:nvSpPr>
        <p:spPr>
          <a:xfrm>
            <a:off x="1093788" y="1897063"/>
            <a:ext cx="2290762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瞬时速度：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737" name="Text Box 17"/>
          <p:cNvSpPr txBox="1"/>
          <p:nvPr/>
        </p:nvSpPr>
        <p:spPr>
          <a:xfrm>
            <a:off x="5422900" y="4837113"/>
            <a:ext cx="3922713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可见速率是速度的模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738" name="Text Box 18"/>
          <p:cNvSpPr txBox="1"/>
          <p:nvPr/>
        </p:nvSpPr>
        <p:spPr>
          <a:xfrm>
            <a:off x="5484813" y="3856038"/>
            <a:ext cx="6375400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可见平均速率不是平均速度的模。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741" name="Text Box 21"/>
          <p:cNvSpPr txBox="1"/>
          <p:nvPr/>
        </p:nvSpPr>
        <p:spPr>
          <a:xfrm>
            <a:off x="1103313" y="2690813"/>
            <a:ext cx="2287587" cy="490537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瞬时速率：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742" name="Text Box 22"/>
          <p:cNvSpPr txBox="1"/>
          <p:nvPr/>
        </p:nvSpPr>
        <p:spPr>
          <a:xfrm>
            <a:off x="431800" y="3224213"/>
            <a:ext cx="1912938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注意： </a:t>
            </a:r>
            <a:endParaRPr lang="zh-CN" altLang="en-US" sz="2400" b="1" dirty="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0743" name="Object 7"/>
          <p:cNvGraphicFramePr/>
          <p:nvPr/>
        </p:nvGraphicFramePr>
        <p:xfrm>
          <a:off x="1871663" y="3592513"/>
          <a:ext cx="31686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7" imgW="1155700" imgH="419100" progId="Equation.DSMT4">
                  <p:embed/>
                </p:oleObj>
              </mc:Choice>
              <mc:Fallback>
                <p:oleObj name="" r:id="rId7" imgW="1155700" imgH="4191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1663" y="3592513"/>
                        <a:ext cx="3168650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36" grpId="0"/>
      <p:bldP spid="30737" grpId="0"/>
      <p:bldP spid="30738" grpId="0"/>
      <p:bldP spid="30741" grpId="0"/>
      <p:bldP spid="307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6" name="Object 2"/>
          <p:cNvGraphicFramePr/>
          <p:nvPr/>
        </p:nvGraphicFramePr>
        <p:xfrm>
          <a:off x="1008063" y="3175000"/>
          <a:ext cx="43195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" imgW="1713865" imgH="406400" progId="Equation.DSMT4">
                  <p:embed/>
                </p:oleObj>
              </mc:Choice>
              <mc:Fallback>
                <p:oleObj name="" r:id="rId1" imgW="1713865" imgH="4064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08063" y="3175000"/>
                        <a:ext cx="4319587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/>
          <p:nvPr/>
        </p:nvGraphicFramePr>
        <p:xfrm>
          <a:off x="1103313" y="4197350"/>
          <a:ext cx="36099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3" imgW="1079500" imgH="279400" progId="Equation.DSMT4">
                  <p:embed/>
                </p:oleObj>
              </mc:Choice>
              <mc:Fallback>
                <p:oleObj name="" r:id="rId3" imgW="1079500" imgH="2794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3313" y="4197350"/>
                        <a:ext cx="3609975" cy="695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8"/>
          <p:cNvSpPr txBox="1"/>
          <p:nvPr/>
        </p:nvSpPr>
        <p:spPr>
          <a:xfrm>
            <a:off x="527050" y="1285875"/>
            <a:ext cx="4640263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速度在直角坐标系中的表示式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1754" name="Object 4"/>
          <p:cNvGraphicFramePr/>
          <p:nvPr/>
        </p:nvGraphicFramePr>
        <p:xfrm>
          <a:off x="4173538" y="1989138"/>
          <a:ext cx="31718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5" imgW="1028065" imgH="254000" progId="Equation.DSMT4">
                  <p:embed/>
                </p:oleObj>
              </mc:Choice>
              <mc:Fallback>
                <p:oleObj name="" r:id="rId5" imgW="1028065" imgH="2540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73538" y="1989138"/>
                        <a:ext cx="3171825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5"/>
          <p:cNvGraphicFramePr/>
          <p:nvPr/>
        </p:nvGraphicFramePr>
        <p:xfrm>
          <a:off x="6383338" y="3060700"/>
          <a:ext cx="470535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7" imgW="1358265" imgH="304800" progId="Equation.DSMT4">
                  <p:embed/>
                </p:oleObj>
              </mc:Choice>
              <mc:Fallback>
                <p:oleObj name="" r:id="rId7" imgW="1358265" imgH="3048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83338" y="3060700"/>
                        <a:ext cx="4705350" cy="788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6"/>
          <p:cNvGraphicFramePr/>
          <p:nvPr/>
        </p:nvGraphicFramePr>
        <p:xfrm>
          <a:off x="6575425" y="4100513"/>
          <a:ext cx="45624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9" imgW="1714500" imgH="508000" progId="Equation.DSMT4">
                  <p:embed/>
                </p:oleObj>
              </mc:Choice>
              <mc:Fallback>
                <p:oleObj name="" r:id="rId9" imgW="1714500" imgH="5080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75425" y="4100513"/>
                        <a:ext cx="4562475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8"/>
          <p:cNvGraphicFramePr/>
          <p:nvPr/>
        </p:nvGraphicFramePr>
        <p:xfrm>
          <a:off x="1973263" y="5446713"/>
          <a:ext cx="14890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1" imgW="469900" imgH="228600" progId="Equation.DSMT4">
                  <p:embed/>
                </p:oleObj>
              </mc:Choice>
              <mc:Fallback>
                <p:oleObj name="" r:id="rId11" imgW="469900" imgH="2286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73263" y="5446713"/>
                        <a:ext cx="1489075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5"/>
          <p:cNvSpPr txBox="1"/>
          <p:nvPr/>
        </p:nvSpPr>
        <p:spPr>
          <a:xfrm>
            <a:off x="5843588" y="5532438"/>
            <a:ext cx="5181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是轨道切线方向上的单位矢量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1272" name="Object 9"/>
          <p:cNvGraphicFramePr/>
          <p:nvPr/>
        </p:nvGraphicFramePr>
        <p:xfrm>
          <a:off x="5602288" y="5540375"/>
          <a:ext cx="4826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3" imgW="165100" imgH="228600" progId="Equation.DSMT4">
                  <p:embed/>
                </p:oleObj>
              </mc:Choice>
              <mc:Fallback>
                <p:oleObj name="" r:id="rId13" imgW="165100" imgH="2286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02288" y="5540375"/>
                        <a:ext cx="482600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/>
          <p:nvPr/>
        </p:nvSpPr>
        <p:spPr>
          <a:xfrm>
            <a:off x="809625" y="4929188"/>
            <a:ext cx="4640263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速度在自然坐标系中的表示式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3" name="Text Box 5"/>
          <p:cNvSpPr txBox="1"/>
          <p:nvPr/>
        </p:nvSpPr>
        <p:spPr>
          <a:xfrm>
            <a:off x="1008063" y="1784350"/>
            <a:ext cx="6280150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描述质点速度大小和方向变化快慢的物理量 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008063" y="2360613"/>
            <a:ext cx="5670550" cy="469900"/>
            <a:chOff x="127" y="12"/>
            <a:chExt cx="2897" cy="296"/>
          </a:xfrm>
        </p:grpSpPr>
        <p:sp>
          <p:nvSpPr>
            <p:cNvPr id="12358" name="Rectangle 7"/>
            <p:cNvSpPr/>
            <p:nvPr/>
          </p:nvSpPr>
          <p:spPr>
            <a:xfrm>
              <a:off x="480" y="12"/>
              <a:ext cx="25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为描述机械运动的状态参量</a:t>
              </a:r>
              <a:r>
                <a:rPr lang="zh-CN" altLang="en-US" sz="24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12299" name="Object 2"/>
            <p:cNvGraphicFramePr/>
            <p:nvPr/>
          </p:nvGraphicFramePr>
          <p:xfrm>
            <a:off x="127" y="37"/>
            <a:ext cx="41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1" imgW="304800" imgH="203200" progId="Equation.DSMT4">
                    <p:embed/>
                  </p:oleObj>
                </mc:Choice>
                <mc:Fallback>
                  <p:oleObj name="" r:id="rId1" imgW="304800" imgH="203200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7" y="37"/>
                          <a:ext cx="410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/>
          <p:nvPr/>
        </p:nvGrpSpPr>
        <p:grpSpPr>
          <a:xfrm>
            <a:off x="6577013" y="2360613"/>
            <a:ext cx="4483100" cy="460375"/>
            <a:chOff x="262" y="0"/>
            <a:chExt cx="3098" cy="290"/>
          </a:xfrm>
        </p:grpSpPr>
        <p:sp>
          <p:nvSpPr>
            <p:cNvPr id="12357" name="Rectangle 10"/>
            <p:cNvSpPr/>
            <p:nvPr/>
          </p:nvSpPr>
          <p:spPr>
            <a:xfrm>
              <a:off x="336" y="0"/>
              <a:ext cx="302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称为机械运动状态的变化率</a:t>
              </a:r>
              <a:r>
                <a:rPr lang="zh-CN" altLang="en-US" sz="24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12298" name="Object 3"/>
            <p:cNvGraphicFramePr/>
            <p:nvPr/>
          </p:nvGraphicFramePr>
          <p:xfrm>
            <a:off x="262" y="8"/>
            <a:ext cx="18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3" imgW="139700" imgH="190500" progId="Equation.DSMT4">
                    <p:embed/>
                  </p:oleObj>
                </mc:Choice>
                <mc:Fallback>
                  <p:oleObj name="" r:id="rId3" imgW="139700" imgH="190500" progId="Equation.DSMT4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2" y="8"/>
                          <a:ext cx="180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0" name="Text Box 12"/>
          <p:cNvSpPr txBox="1"/>
          <p:nvPr/>
        </p:nvSpPr>
        <p:spPr>
          <a:xfrm>
            <a:off x="406400" y="2840038"/>
            <a:ext cx="4075113" cy="493712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平均加速度与瞬时加速度</a:t>
            </a:r>
            <a:r>
              <a:rPr lang="zh-CN" altLang="en-US" sz="2400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dirty="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2781" name="Object 4"/>
          <p:cNvGraphicFramePr/>
          <p:nvPr/>
        </p:nvGraphicFramePr>
        <p:xfrm>
          <a:off x="2932113" y="5111750"/>
          <a:ext cx="146367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5" imgW="495300" imgH="393700" progId="Equation.DSMT4">
                  <p:embed/>
                </p:oleObj>
              </mc:Choice>
              <mc:Fallback>
                <p:oleObj name="" r:id="rId5" imgW="495300" imgH="393700" progId="Equation.DSMT4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32113" y="5111750"/>
                        <a:ext cx="1463675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5"/>
          <p:cNvGraphicFramePr/>
          <p:nvPr/>
        </p:nvGraphicFramePr>
        <p:xfrm>
          <a:off x="7632700" y="5105400"/>
          <a:ext cx="39354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7" imgW="1460500" imgH="419100" progId="Equation.DSMT4">
                  <p:embed/>
                </p:oleObj>
              </mc:Choice>
              <mc:Fallback>
                <p:oleObj name="" r:id="rId7" imgW="1460500" imgH="419100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32700" y="5105400"/>
                        <a:ext cx="3935413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6"/>
          <p:cNvGrpSpPr/>
          <p:nvPr/>
        </p:nvGrpSpPr>
        <p:grpSpPr>
          <a:xfrm>
            <a:off x="914400" y="3767138"/>
            <a:ext cx="5441950" cy="930275"/>
            <a:chOff x="0" y="0"/>
            <a:chExt cx="2571" cy="731"/>
          </a:xfrm>
        </p:grpSpPr>
        <p:sp>
          <p:nvSpPr>
            <p:cNvPr id="12338" name="未知"/>
            <p:cNvSpPr/>
            <p:nvPr/>
          </p:nvSpPr>
          <p:spPr>
            <a:xfrm>
              <a:off x="0" y="434"/>
              <a:ext cx="122" cy="38"/>
            </a:xfrm>
            <a:custGeom>
              <a:avLst/>
              <a:gdLst>
                <a:gd name="txL" fmla="*/ 0 w 122"/>
                <a:gd name="txT" fmla="*/ 0 h 38"/>
                <a:gd name="txR" fmla="*/ 122 w 122"/>
                <a:gd name="txB" fmla="*/ 38 h 38"/>
              </a:gdLst>
              <a:ahLst/>
              <a:cxnLst>
                <a:cxn ang="0">
                  <a:pos x="0" y="0"/>
                </a:cxn>
                <a:cxn ang="0">
                  <a:pos x="0" y="15"/>
                </a:cxn>
                <a:cxn ang="0">
                  <a:pos x="46" y="23"/>
                </a:cxn>
                <a:cxn ang="0">
                  <a:pos x="107" y="38"/>
                </a:cxn>
                <a:cxn ang="0">
                  <a:pos x="122" y="38"/>
                </a:cxn>
                <a:cxn ang="0">
                  <a:pos x="122" y="23"/>
                </a:cxn>
                <a:cxn ang="0">
                  <a:pos x="115" y="23"/>
                </a:cxn>
                <a:cxn ang="0">
                  <a:pos x="54" y="8"/>
                </a:cxn>
                <a:cxn ang="0">
                  <a:pos x="0" y="0"/>
                </a:cxn>
              </a:cxnLst>
              <a:rect l="txL" t="txT" r="txR" b="txB"/>
              <a:pathLst>
                <a:path w="122" h="38">
                  <a:moveTo>
                    <a:pt x="0" y="0"/>
                  </a:moveTo>
                  <a:lnTo>
                    <a:pt x="0" y="15"/>
                  </a:lnTo>
                  <a:lnTo>
                    <a:pt x="46" y="23"/>
                  </a:lnTo>
                  <a:lnTo>
                    <a:pt x="107" y="38"/>
                  </a:lnTo>
                  <a:lnTo>
                    <a:pt x="122" y="38"/>
                  </a:lnTo>
                  <a:lnTo>
                    <a:pt x="122" y="23"/>
                  </a:lnTo>
                  <a:lnTo>
                    <a:pt x="115" y="23"/>
                  </a:lnTo>
                  <a:lnTo>
                    <a:pt x="54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39" name="未知"/>
            <p:cNvSpPr/>
            <p:nvPr/>
          </p:nvSpPr>
          <p:spPr>
            <a:xfrm>
              <a:off x="168" y="464"/>
              <a:ext cx="114" cy="38"/>
            </a:xfrm>
            <a:custGeom>
              <a:avLst/>
              <a:gdLst>
                <a:gd name="txL" fmla="*/ 0 w 114"/>
                <a:gd name="txT" fmla="*/ 0 h 38"/>
                <a:gd name="txR" fmla="*/ 114 w 114"/>
                <a:gd name="txB" fmla="*/ 38 h 38"/>
              </a:gdLst>
              <a:ahLst/>
              <a:cxnLst>
                <a:cxn ang="0">
                  <a:pos x="0" y="0"/>
                </a:cxn>
                <a:cxn ang="0">
                  <a:pos x="0" y="16"/>
                </a:cxn>
                <a:cxn ang="0">
                  <a:pos x="15" y="23"/>
                </a:cxn>
                <a:cxn ang="0">
                  <a:pos x="91" y="38"/>
                </a:cxn>
                <a:cxn ang="0">
                  <a:pos x="114" y="38"/>
                </a:cxn>
                <a:cxn ang="0">
                  <a:pos x="114" y="23"/>
                </a:cxn>
                <a:cxn ang="0">
                  <a:pos x="99" y="23"/>
                </a:cxn>
                <a:cxn ang="0">
                  <a:pos x="23" y="8"/>
                </a:cxn>
                <a:cxn ang="0">
                  <a:pos x="0" y="0"/>
                </a:cxn>
              </a:cxnLst>
              <a:rect l="txL" t="txT" r="txR" b="txB"/>
              <a:pathLst>
                <a:path w="114" h="38">
                  <a:moveTo>
                    <a:pt x="0" y="0"/>
                  </a:moveTo>
                  <a:lnTo>
                    <a:pt x="0" y="16"/>
                  </a:lnTo>
                  <a:lnTo>
                    <a:pt x="15" y="23"/>
                  </a:lnTo>
                  <a:lnTo>
                    <a:pt x="91" y="38"/>
                  </a:lnTo>
                  <a:lnTo>
                    <a:pt x="114" y="38"/>
                  </a:lnTo>
                  <a:lnTo>
                    <a:pt x="114" y="23"/>
                  </a:lnTo>
                  <a:lnTo>
                    <a:pt x="99" y="23"/>
                  </a:lnTo>
                  <a:lnTo>
                    <a:pt x="23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0" name="未知"/>
            <p:cNvSpPr/>
            <p:nvPr/>
          </p:nvSpPr>
          <p:spPr>
            <a:xfrm>
              <a:off x="327" y="495"/>
              <a:ext cx="122" cy="23"/>
            </a:xfrm>
            <a:custGeom>
              <a:avLst/>
              <a:gdLst>
                <a:gd name="txL" fmla="*/ 0 w 122"/>
                <a:gd name="txT" fmla="*/ 0 h 23"/>
                <a:gd name="txR" fmla="*/ 122 w 122"/>
                <a:gd name="txB" fmla="*/ 23 h 23"/>
              </a:gdLst>
              <a:ahLst/>
              <a:cxnLst>
                <a:cxn ang="0">
                  <a:pos x="0" y="0"/>
                </a:cxn>
                <a:cxn ang="0">
                  <a:pos x="0" y="15"/>
                </a:cxn>
                <a:cxn ang="0">
                  <a:pos x="23" y="15"/>
                </a:cxn>
                <a:cxn ang="0">
                  <a:pos x="107" y="23"/>
                </a:cxn>
                <a:cxn ang="0">
                  <a:pos x="115" y="23"/>
                </a:cxn>
                <a:cxn ang="0">
                  <a:pos x="122" y="23"/>
                </a:cxn>
                <a:cxn ang="0">
                  <a:pos x="122" y="7"/>
                </a:cxn>
                <a:cxn ang="0">
                  <a:pos x="107" y="7"/>
                </a:cxn>
                <a:cxn ang="0">
                  <a:pos x="115" y="15"/>
                </a:cxn>
                <a:cxn ang="0">
                  <a:pos x="115" y="7"/>
                </a:cxn>
                <a:cxn ang="0">
                  <a:pos x="31" y="0"/>
                </a:cxn>
                <a:cxn ang="0">
                  <a:pos x="0" y="0"/>
                </a:cxn>
              </a:cxnLst>
              <a:rect l="txL" t="txT" r="txR" b="txB"/>
              <a:pathLst>
                <a:path w="122" h="23">
                  <a:moveTo>
                    <a:pt x="0" y="0"/>
                  </a:moveTo>
                  <a:lnTo>
                    <a:pt x="0" y="15"/>
                  </a:lnTo>
                  <a:lnTo>
                    <a:pt x="23" y="15"/>
                  </a:lnTo>
                  <a:lnTo>
                    <a:pt x="107" y="23"/>
                  </a:lnTo>
                  <a:lnTo>
                    <a:pt x="115" y="23"/>
                  </a:lnTo>
                  <a:lnTo>
                    <a:pt x="122" y="23"/>
                  </a:lnTo>
                  <a:lnTo>
                    <a:pt x="122" y="7"/>
                  </a:lnTo>
                  <a:lnTo>
                    <a:pt x="107" y="7"/>
                  </a:lnTo>
                  <a:lnTo>
                    <a:pt x="115" y="15"/>
                  </a:lnTo>
                  <a:lnTo>
                    <a:pt x="115" y="7"/>
                  </a:lnTo>
                  <a:lnTo>
                    <a:pt x="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1" name="未知"/>
            <p:cNvSpPr/>
            <p:nvPr/>
          </p:nvSpPr>
          <p:spPr>
            <a:xfrm>
              <a:off x="495" y="480"/>
              <a:ext cx="121" cy="38"/>
            </a:xfrm>
            <a:custGeom>
              <a:avLst/>
              <a:gdLst>
                <a:gd name="txL" fmla="*/ 0 w 121"/>
                <a:gd name="txT" fmla="*/ 0 h 38"/>
                <a:gd name="txR" fmla="*/ 121 w 121"/>
                <a:gd name="txB" fmla="*/ 38 h 38"/>
              </a:gdLst>
              <a:ahLst/>
              <a:cxnLst>
                <a:cxn ang="0">
                  <a:pos x="0" y="22"/>
                </a:cxn>
                <a:cxn ang="0">
                  <a:pos x="0" y="38"/>
                </a:cxn>
                <a:cxn ang="0">
                  <a:pos x="30" y="38"/>
                </a:cxn>
                <a:cxn ang="0">
                  <a:pos x="99" y="22"/>
                </a:cxn>
                <a:cxn ang="0">
                  <a:pos x="121" y="15"/>
                </a:cxn>
                <a:cxn ang="0">
                  <a:pos x="121" y="0"/>
                </a:cxn>
                <a:cxn ang="0">
                  <a:pos x="99" y="7"/>
                </a:cxn>
                <a:cxn ang="0">
                  <a:pos x="23" y="22"/>
                </a:cxn>
                <a:cxn ang="0">
                  <a:pos x="0" y="22"/>
                </a:cxn>
              </a:cxnLst>
              <a:rect l="txL" t="txT" r="txR" b="txB"/>
              <a:pathLst>
                <a:path w="121" h="38">
                  <a:moveTo>
                    <a:pt x="0" y="22"/>
                  </a:moveTo>
                  <a:lnTo>
                    <a:pt x="0" y="38"/>
                  </a:lnTo>
                  <a:lnTo>
                    <a:pt x="30" y="38"/>
                  </a:lnTo>
                  <a:lnTo>
                    <a:pt x="99" y="22"/>
                  </a:lnTo>
                  <a:lnTo>
                    <a:pt x="121" y="15"/>
                  </a:lnTo>
                  <a:lnTo>
                    <a:pt x="121" y="0"/>
                  </a:lnTo>
                  <a:lnTo>
                    <a:pt x="99" y="7"/>
                  </a:lnTo>
                  <a:lnTo>
                    <a:pt x="23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2" name="未知"/>
            <p:cNvSpPr/>
            <p:nvPr/>
          </p:nvSpPr>
          <p:spPr>
            <a:xfrm>
              <a:off x="654" y="403"/>
              <a:ext cx="115" cy="77"/>
            </a:xfrm>
            <a:custGeom>
              <a:avLst/>
              <a:gdLst>
                <a:gd name="txL" fmla="*/ 0 w 115"/>
                <a:gd name="txT" fmla="*/ 0 h 77"/>
                <a:gd name="txR" fmla="*/ 115 w 115"/>
                <a:gd name="txB" fmla="*/ 77 h 77"/>
              </a:gdLst>
              <a:ahLst/>
              <a:cxnLst>
                <a:cxn ang="0">
                  <a:pos x="8" y="61"/>
                </a:cxn>
                <a:cxn ang="0">
                  <a:pos x="8" y="77"/>
                </a:cxn>
                <a:cxn ang="0">
                  <a:pos x="8" y="77"/>
                </a:cxn>
                <a:cxn ang="0">
                  <a:pos x="77" y="39"/>
                </a:cxn>
                <a:cxn ang="0">
                  <a:pos x="115" y="16"/>
                </a:cxn>
                <a:cxn ang="0">
                  <a:pos x="107" y="0"/>
                </a:cxn>
                <a:cxn ang="0">
                  <a:pos x="69" y="23"/>
                </a:cxn>
                <a:cxn ang="0">
                  <a:pos x="0" y="61"/>
                </a:cxn>
                <a:cxn ang="0">
                  <a:pos x="8" y="61"/>
                </a:cxn>
              </a:cxnLst>
              <a:rect l="txL" t="txT" r="txR" b="txB"/>
              <a:pathLst>
                <a:path w="115" h="77">
                  <a:moveTo>
                    <a:pt x="8" y="61"/>
                  </a:moveTo>
                  <a:lnTo>
                    <a:pt x="8" y="77"/>
                  </a:lnTo>
                  <a:lnTo>
                    <a:pt x="77" y="39"/>
                  </a:lnTo>
                  <a:lnTo>
                    <a:pt x="115" y="16"/>
                  </a:lnTo>
                  <a:lnTo>
                    <a:pt x="107" y="0"/>
                  </a:lnTo>
                  <a:lnTo>
                    <a:pt x="69" y="23"/>
                  </a:lnTo>
                  <a:lnTo>
                    <a:pt x="0" y="61"/>
                  </a:lnTo>
                  <a:lnTo>
                    <a:pt x="8" y="61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3" name="未知"/>
            <p:cNvSpPr/>
            <p:nvPr/>
          </p:nvSpPr>
          <p:spPr>
            <a:xfrm>
              <a:off x="799" y="297"/>
              <a:ext cx="99" cy="91"/>
            </a:xfrm>
            <a:custGeom>
              <a:avLst/>
              <a:gdLst>
                <a:gd name="txL" fmla="*/ 0 w 99"/>
                <a:gd name="txT" fmla="*/ 0 h 91"/>
                <a:gd name="txR" fmla="*/ 99 w 99"/>
                <a:gd name="txB" fmla="*/ 91 h 91"/>
              </a:gdLst>
              <a:ahLst/>
              <a:cxnLst>
                <a:cxn ang="0">
                  <a:pos x="0" y="76"/>
                </a:cxn>
                <a:cxn ang="0">
                  <a:pos x="8" y="91"/>
                </a:cxn>
                <a:cxn ang="0">
                  <a:pos x="61" y="46"/>
                </a:cxn>
                <a:cxn ang="0">
                  <a:pos x="99" y="15"/>
                </a:cxn>
                <a:cxn ang="0">
                  <a:pos x="91" y="0"/>
                </a:cxn>
                <a:cxn ang="0">
                  <a:pos x="53" y="30"/>
                </a:cxn>
                <a:cxn ang="0">
                  <a:pos x="0" y="76"/>
                </a:cxn>
              </a:cxnLst>
              <a:rect l="txL" t="txT" r="txR" b="txB"/>
              <a:pathLst>
                <a:path w="99" h="91">
                  <a:moveTo>
                    <a:pt x="0" y="76"/>
                  </a:moveTo>
                  <a:lnTo>
                    <a:pt x="8" y="91"/>
                  </a:lnTo>
                  <a:lnTo>
                    <a:pt x="61" y="46"/>
                  </a:lnTo>
                  <a:lnTo>
                    <a:pt x="99" y="15"/>
                  </a:lnTo>
                  <a:lnTo>
                    <a:pt x="91" y="0"/>
                  </a:lnTo>
                  <a:lnTo>
                    <a:pt x="53" y="3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4" name="未知"/>
            <p:cNvSpPr/>
            <p:nvPr/>
          </p:nvSpPr>
          <p:spPr>
            <a:xfrm>
              <a:off x="921" y="190"/>
              <a:ext cx="106" cy="92"/>
            </a:xfrm>
            <a:custGeom>
              <a:avLst/>
              <a:gdLst>
                <a:gd name="txL" fmla="*/ 0 w 106"/>
                <a:gd name="txT" fmla="*/ 0 h 92"/>
                <a:gd name="txR" fmla="*/ 106 w 106"/>
                <a:gd name="txB" fmla="*/ 92 h 92"/>
              </a:gdLst>
              <a:ahLst/>
              <a:cxnLst>
                <a:cxn ang="0">
                  <a:pos x="0" y="77"/>
                </a:cxn>
                <a:cxn ang="0">
                  <a:pos x="7" y="92"/>
                </a:cxn>
                <a:cxn ang="0">
                  <a:pos x="68" y="46"/>
                </a:cxn>
                <a:cxn ang="0">
                  <a:pos x="106" y="16"/>
                </a:cxn>
                <a:cxn ang="0">
                  <a:pos x="99" y="0"/>
                </a:cxn>
                <a:cxn ang="0">
                  <a:pos x="60" y="31"/>
                </a:cxn>
                <a:cxn ang="0">
                  <a:pos x="0" y="77"/>
                </a:cxn>
              </a:cxnLst>
              <a:rect l="txL" t="txT" r="txR" b="txB"/>
              <a:pathLst>
                <a:path w="106" h="92">
                  <a:moveTo>
                    <a:pt x="0" y="77"/>
                  </a:moveTo>
                  <a:lnTo>
                    <a:pt x="7" y="92"/>
                  </a:lnTo>
                  <a:lnTo>
                    <a:pt x="68" y="46"/>
                  </a:lnTo>
                  <a:lnTo>
                    <a:pt x="106" y="16"/>
                  </a:lnTo>
                  <a:lnTo>
                    <a:pt x="99" y="0"/>
                  </a:lnTo>
                  <a:lnTo>
                    <a:pt x="60" y="3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5" name="未知"/>
            <p:cNvSpPr/>
            <p:nvPr/>
          </p:nvSpPr>
          <p:spPr>
            <a:xfrm>
              <a:off x="1058" y="99"/>
              <a:ext cx="106" cy="76"/>
            </a:xfrm>
            <a:custGeom>
              <a:avLst/>
              <a:gdLst>
                <a:gd name="txL" fmla="*/ 0 w 106"/>
                <a:gd name="txT" fmla="*/ 0 h 76"/>
                <a:gd name="txR" fmla="*/ 106 w 106"/>
                <a:gd name="txB" fmla="*/ 76 h 76"/>
              </a:gdLst>
              <a:ahLst/>
              <a:cxnLst>
                <a:cxn ang="0">
                  <a:pos x="0" y="61"/>
                </a:cxn>
                <a:cxn ang="0">
                  <a:pos x="7" y="76"/>
                </a:cxn>
                <a:cxn ang="0">
                  <a:pos x="45" y="53"/>
                </a:cxn>
                <a:cxn ang="0">
                  <a:pos x="106" y="15"/>
                </a:cxn>
                <a:cxn ang="0">
                  <a:pos x="98" y="0"/>
                </a:cxn>
                <a:cxn ang="0">
                  <a:pos x="38" y="38"/>
                </a:cxn>
                <a:cxn ang="0">
                  <a:pos x="0" y="61"/>
                </a:cxn>
              </a:cxnLst>
              <a:rect l="txL" t="txT" r="txR" b="txB"/>
              <a:pathLst>
                <a:path w="106" h="76">
                  <a:moveTo>
                    <a:pt x="0" y="61"/>
                  </a:moveTo>
                  <a:lnTo>
                    <a:pt x="7" y="76"/>
                  </a:lnTo>
                  <a:lnTo>
                    <a:pt x="45" y="53"/>
                  </a:lnTo>
                  <a:lnTo>
                    <a:pt x="106" y="15"/>
                  </a:lnTo>
                  <a:lnTo>
                    <a:pt x="98" y="0"/>
                  </a:lnTo>
                  <a:lnTo>
                    <a:pt x="38" y="38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6" name="未知"/>
            <p:cNvSpPr/>
            <p:nvPr/>
          </p:nvSpPr>
          <p:spPr>
            <a:xfrm>
              <a:off x="1202" y="31"/>
              <a:ext cx="114" cy="68"/>
            </a:xfrm>
            <a:custGeom>
              <a:avLst/>
              <a:gdLst>
                <a:gd name="txL" fmla="*/ 0 w 114"/>
                <a:gd name="txT" fmla="*/ 0 h 68"/>
                <a:gd name="txR" fmla="*/ 114 w 114"/>
                <a:gd name="txB" fmla="*/ 68 h 68"/>
              </a:gdLst>
              <a:ahLst/>
              <a:cxnLst>
                <a:cxn ang="0">
                  <a:pos x="0" y="53"/>
                </a:cxn>
                <a:cxn ang="0">
                  <a:pos x="8" y="68"/>
                </a:cxn>
                <a:cxn ang="0">
                  <a:pos x="99" y="23"/>
                </a:cxn>
                <a:cxn ang="0">
                  <a:pos x="114" y="15"/>
                </a:cxn>
                <a:cxn ang="0">
                  <a:pos x="114" y="0"/>
                </a:cxn>
                <a:cxn ang="0">
                  <a:pos x="91" y="7"/>
                </a:cxn>
                <a:cxn ang="0">
                  <a:pos x="0" y="53"/>
                </a:cxn>
              </a:cxnLst>
              <a:rect l="txL" t="txT" r="txR" b="txB"/>
              <a:pathLst>
                <a:path w="114" h="68">
                  <a:moveTo>
                    <a:pt x="0" y="53"/>
                  </a:moveTo>
                  <a:lnTo>
                    <a:pt x="8" y="68"/>
                  </a:lnTo>
                  <a:lnTo>
                    <a:pt x="99" y="23"/>
                  </a:lnTo>
                  <a:lnTo>
                    <a:pt x="114" y="15"/>
                  </a:lnTo>
                  <a:lnTo>
                    <a:pt x="114" y="0"/>
                  </a:lnTo>
                  <a:lnTo>
                    <a:pt x="91" y="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7" name="未知"/>
            <p:cNvSpPr/>
            <p:nvPr/>
          </p:nvSpPr>
          <p:spPr>
            <a:xfrm>
              <a:off x="1362" y="0"/>
              <a:ext cx="121" cy="38"/>
            </a:xfrm>
            <a:custGeom>
              <a:avLst/>
              <a:gdLst>
                <a:gd name="txL" fmla="*/ 0 w 121"/>
                <a:gd name="txT" fmla="*/ 0 h 38"/>
                <a:gd name="txR" fmla="*/ 121 w 121"/>
                <a:gd name="txB" fmla="*/ 38 h 38"/>
              </a:gdLst>
              <a:ahLst/>
              <a:cxnLst>
                <a:cxn ang="0">
                  <a:pos x="0" y="23"/>
                </a:cxn>
                <a:cxn ang="0">
                  <a:pos x="0" y="38"/>
                </a:cxn>
                <a:cxn ang="0">
                  <a:pos x="30" y="31"/>
                </a:cxn>
                <a:cxn ang="0">
                  <a:pos x="121" y="16"/>
                </a:cxn>
                <a:cxn ang="0">
                  <a:pos x="121" y="0"/>
                </a:cxn>
                <a:cxn ang="0">
                  <a:pos x="23" y="16"/>
                </a:cxn>
                <a:cxn ang="0">
                  <a:pos x="0" y="23"/>
                </a:cxn>
              </a:cxnLst>
              <a:rect l="txL" t="txT" r="txR" b="txB"/>
              <a:pathLst>
                <a:path w="121" h="38">
                  <a:moveTo>
                    <a:pt x="0" y="23"/>
                  </a:moveTo>
                  <a:lnTo>
                    <a:pt x="0" y="38"/>
                  </a:lnTo>
                  <a:lnTo>
                    <a:pt x="30" y="31"/>
                  </a:lnTo>
                  <a:lnTo>
                    <a:pt x="121" y="16"/>
                  </a:lnTo>
                  <a:lnTo>
                    <a:pt x="121" y="0"/>
                  </a:lnTo>
                  <a:lnTo>
                    <a:pt x="23" y="16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8" name="未知"/>
            <p:cNvSpPr/>
            <p:nvPr/>
          </p:nvSpPr>
          <p:spPr>
            <a:xfrm>
              <a:off x="1529" y="0"/>
              <a:ext cx="122" cy="16"/>
            </a:xfrm>
            <a:custGeom>
              <a:avLst/>
              <a:gdLst>
                <a:gd name="txL" fmla="*/ 0 w 122"/>
                <a:gd name="txT" fmla="*/ 0 h 16"/>
                <a:gd name="txR" fmla="*/ 122 w 122"/>
                <a:gd name="txB" fmla="*/ 16 h 16"/>
              </a:gdLst>
              <a:ahLst/>
              <a:cxnLst>
                <a:cxn ang="0">
                  <a:pos x="0" y="0"/>
                </a:cxn>
                <a:cxn ang="0">
                  <a:pos x="0" y="16"/>
                </a:cxn>
                <a:cxn ang="0">
                  <a:pos x="68" y="16"/>
                </a:cxn>
                <a:cxn ang="0">
                  <a:pos x="61" y="8"/>
                </a:cxn>
                <a:cxn ang="0">
                  <a:pos x="61" y="16"/>
                </a:cxn>
                <a:cxn ang="0">
                  <a:pos x="122" y="16"/>
                </a:cxn>
                <a:cxn ang="0">
                  <a:pos x="122" y="0"/>
                </a:cxn>
                <a:cxn ang="0">
                  <a:pos x="68" y="0"/>
                </a:cxn>
                <a:cxn ang="0">
                  <a:pos x="61" y="0"/>
                </a:cxn>
                <a:cxn ang="0">
                  <a:pos x="0" y="0"/>
                </a:cxn>
              </a:cxnLst>
              <a:rect l="txL" t="txT" r="txR" b="txB"/>
              <a:pathLst>
                <a:path w="122" h="16">
                  <a:moveTo>
                    <a:pt x="0" y="0"/>
                  </a:moveTo>
                  <a:lnTo>
                    <a:pt x="0" y="16"/>
                  </a:lnTo>
                  <a:lnTo>
                    <a:pt x="68" y="16"/>
                  </a:lnTo>
                  <a:lnTo>
                    <a:pt x="61" y="8"/>
                  </a:lnTo>
                  <a:lnTo>
                    <a:pt x="61" y="16"/>
                  </a:lnTo>
                  <a:lnTo>
                    <a:pt x="122" y="16"/>
                  </a:lnTo>
                  <a:lnTo>
                    <a:pt x="122" y="0"/>
                  </a:lnTo>
                  <a:lnTo>
                    <a:pt x="68" y="0"/>
                  </a:lnTo>
                  <a:lnTo>
                    <a:pt x="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9" name="未知"/>
            <p:cNvSpPr/>
            <p:nvPr/>
          </p:nvSpPr>
          <p:spPr>
            <a:xfrm>
              <a:off x="1689" y="8"/>
              <a:ext cx="121" cy="38"/>
            </a:xfrm>
            <a:custGeom>
              <a:avLst/>
              <a:gdLst>
                <a:gd name="txL" fmla="*/ 0 w 121"/>
                <a:gd name="txT" fmla="*/ 0 h 38"/>
                <a:gd name="txR" fmla="*/ 121 w 121"/>
                <a:gd name="txB" fmla="*/ 38 h 38"/>
              </a:gdLst>
              <a:ahLst/>
              <a:cxnLst>
                <a:cxn ang="0">
                  <a:pos x="0" y="0"/>
                </a:cxn>
                <a:cxn ang="0">
                  <a:pos x="0" y="15"/>
                </a:cxn>
                <a:cxn ang="0">
                  <a:pos x="15" y="15"/>
                </a:cxn>
                <a:cxn ang="0">
                  <a:pos x="121" y="38"/>
                </a:cxn>
                <a:cxn ang="0">
                  <a:pos x="121" y="23"/>
                </a:cxn>
                <a:cxn ang="0">
                  <a:pos x="23" y="0"/>
                </a:cxn>
                <a:cxn ang="0">
                  <a:pos x="0" y="0"/>
                </a:cxn>
              </a:cxnLst>
              <a:rect l="txL" t="txT" r="txR" b="txB"/>
              <a:pathLst>
                <a:path w="121" h="38">
                  <a:moveTo>
                    <a:pt x="0" y="0"/>
                  </a:moveTo>
                  <a:lnTo>
                    <a:pt x="0" y="15"/>
                  </a:lnTo>
                  <a:lnTo>
                    <a:pt x="15" y="15"/>
                  </a:lnTo>
                  <a:lnTo>
                    <a:pt x="121" y="38"/>
                  </a:lnTo>
                  <a:lnTo>
                    <a:pt x="121" y="23"/>
                  </a:lnTo>
                  <a:lnTo>
                    <a:pt x="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0" name="未知"/>
            <p:cNvSpPr/>
            <p:nvPr/>
          </p:nvSpPr>
          <p:spPr>
            <a:xfrm>
              <a:off x="1848" y="46"/>
              <a:ext cx="122" cy="68"/>
            </a:xfrm>
            <a:custGeom>
              <a:avLst/>
              <a:gdLst>
                <a:gd name="txL" fmla="*/ 0 w 122"/>
                <a:gd name="txT" fmla="*/ 0 h 68"/>
                <a:gd name="txR" fmla="*/ 122 w 122"/>
                <a:gd name="txB" fmla="*/ 68 h 68"/>
              </a:gdLst>
              <a:ahLst/>
              <a:cxnLst>
                <a:cxn ang="0">
                  <a:pos x="8" y="0"/>
                </a:cxn>
                <a:cxn ang="0">
                  <a:pos x="0" y="15"/>
                </a:cxn>
                <a:cxn ang="0">
                  <a:pos x="84" y="46"/>
                </a:cxn>
                <a:cxn ang="0">
                  <a:pos x="114" y="68"/>
                </a:cxn>
                <a:cxn ang="0">
                  <a:pos x="122" y="53"/>
                </a:cxn>
                <a:cxn ang="0">
                  <a:pos x="92" y="30"/>
                </a:cxn>
                <a:cxn ang="0">
                  <a:pos x="8" y="0"/>
                </a:cxn>
              </a:cxnLst>
              <a:rect l="txL" t="txT" r="txR" b="txB"/>
              <a:pathLst>
                <a:path w="122" h="68">
                  <a:moveTo>
                    <a:pt x="8" y="0"/>
                  </a:moveTo>
                  <a:lnTo>
                    <a:pt x="0" y="15"/>
                  </a:lnTo>
                  <a:lnTo>
                    <a:pt x="84" y="46"/>
                  </a:lnTo>
                  <a:lnTo>
                    <a:pt x="114" y="68"/>
                  </a:lnTo>
                  <a:lnTo>
                    <a:pt x="122" y="53"/>
                  </a:lnTo>
                  <a:lnTo>
                    <a:pt x="92" y="3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1" name="未知"/>
            <p:cNvSpPr/>
            <p:nvPr/>
          </p:nvSpPr>
          <p:spPr>
            <a:xfrm>
              <a:off x="1993" y="130"/>
              <a:ext cx="91" cy="99"/>
            </a:xfrm>
            <a:custGeom>
              <a:avLst/>
              <a:gdLst>
                <a:gd name="txL" fmla="*/ 0 w 91"/>
                <a:gd name="txT" fmla="*/ 0 h 99"/>
                <a:gd name="txR" fmla="*/ 91 w 91"/>
                <a:gd name="txB" fmla="*/ 99 h 99"/>
              </a:gdLst>
              <a:ahLst/>
              <a:cxnLst>
                <a:cxn ang="0">
                  <a:pos x="8" y="0"/>
                </a:cxn>
                <a:cxn ang="0">
                  <a:pos x="0" y="15"/>
                </a:cxn>
                <a:cxn ang="0">
                  <a:pos x="30" y="38"/>
                </a:cxn>
                <a:cxn ang="0">
                  <a:pos x="84" y="99"/>
                </a:cxn>
                <a:cxn ang="0">
                  <a:pos x="91" y="83"/>
                </a:cxn>
                <a:cxn ang="0">
                  <a:pos x="38" y="22"/>
                </a:cxn>
                <a:cxn ang="0">
                  <a:pos x="8" y="0"/>
                </a:cxn>
              </a:cxnLst>
              <a:rect l="txL" t="txT" r="txR" b="txB"/>
              <a:pathLst>
                <a:path w="91" h="99">
                  <a:moveTo>
                    <a:pt x="8" y="0"/>
                  </a:moveTo>
                  <a:lnTo>
                    <a:pt x="0" y="15"/>
                  </a:lnTo>
                  <a:lnTo>
                    <a:pt x="30" y="38"/>
                  </a:lnTo>
                  <a:lnTo>
                    <a:pt x="84" y="99"/>
                  </a:lnTo>
                  <a:lnTo>
                    <a:pt x="91" y="83"/>
                  </a:lnTo>
                  <a:lnTo>
                    <a:pt x="38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2" name="未知"/>
            <p:cNvSpPr/>
            <p:nvPr/>
          </p:nvSpPr>
          <p:spPr>
            <a:xfrm>
              <a:off x="2107" y="244"/>
              <a:ext cx="91" cy="114"/>
            </a:xfrm>
            <a:custGeom>
              <a:avLst/>
              <a:gdLst>
                <a:gd name="txL" fmla="*/ 0 w 91"/>
                <a:gd name="txT" fmla="*/ 0 h 114"/>
                <a:gd name="txR" fmla="*/ 91 w 91"/>
                <a:gd name="txB" fmla="*/ 114 h 114"/>
              </a:gdLst>
              <a:ahLst/>
              <a:cxnLst>
                <a:cxn ang="0">
                  <a:pos x="8" y="0"/>
                </a:cxn>
                <a:cxn ang="0">
                  <a:pos x="0" y="15"/>
                </a:cxn>
                <a:cxn ang="0">
                  <a:pos x="15" y="30"/>
                </a:cxn>
                <a:cxn ang="0">
                  <a:pos x="84" y="114"/>
                </a:cxn>
                <a:cxn ang="0">
                  <a:pos x="91" y="99"/>
                </a:cxn>
                <a:cxn ang="0">
                  <a:pos x="23" y="15"/>
                </a:cxn>
                <a:cxn ang="0">
                  <a:pos x="8" y="0"/>
                </a:cxn>
              </a:cxnLst>
              <a:rect l="txL" t="txT" r="txR" b="txB"/>
              <a:pathLst>
                <a:path w="91" h="114">
                  <a:moveTo>
                    <a:pt x="8" y="0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84" y="114"/>
                  </a:lnTo>
                  <a:lnTo>
                    <a:pt x="91" y="99"/>
                  </a:lnTo>
                  <a:lnTo>
                    <a:pt x="23" y="1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3" name="未知"/>
            <p:cNvSpPr/>
            <p:nvPr/>
          </p:nvSpPr>
          <p:spPr>
            <a:xfrm>
              <a:off x="2213" y="381"/>
              <a:ext cx="84" cy="106"/>
            </a:xfrm>
            <a:custGeom>
              <a:avLst/>
              <a:gdLst>
                <a:gd name="txL" fmla="*/ 0 w 84"/>
                <a:gd name="txT" fmla="*/ 0 h 106"/>
                <a:gd name="txR" fmla="*/ 84 w 84"/>
                <a:gd name="txB" fmla="*/ 106 h 106"/>
              </a:gdLst>
              <a:ahLst/>
              <a:cxnLst>
                <a:cxn ang="0">
                  <a:pos x="8" y="0"/>
                </a:cxn>
                <a:cxn ang="0">
                  <a:pos x="0" y="15"/>
                </a:cxn>
                <a:cxn ang="0">
                  <a:pos x="31" y="53"/>
                </a:cxn>
                <a:cxn ang="0">
                  <a:pos x="69" y="91"/>
                </a:cxn>
                <a:cxn ang="0">
                  <a:pos x="76" y="106"/>
                </a:cxn>
                <a:cxn ang="0">
                  <a:pos x="84" y="91"/>
                </a:cxn>
                <a:cxn ang="0">
                  <a:pos x="76" y="76"/>
                </a:cxn>
                <a:cxn ang="0">
                  <a:pos x="38" y="38"/>
                </a:cxn>
                <a:cxn ang="0">
                  <a:pos x="8" y="0"/>
                </a:cxn>
              </a:cxnLst>
              <a:rect l="txL" t="txT" r="txR" b="txB"/>
              <a:pathLst>
                <a:path w="84" h="106">
                  <a:moveTo>
                    <a:pt x="8" y="0"/>
                  </a:moveTo>
                  <a:lnTo>
                    <a:pt x="0" y="15"/>
                  </a:lnTo>
                  <a:lnTo>
                    <a:pt x="31" y="53"/>
                  </a:lnTo>
                  <a:lnTo>
                    <a:pt x="69" y="91"/>
                  </a:lnTo>
                  <a:lnTo>
                    <a:pt x="76" y="106"/>
                  </a:lnTo>
                  <a:lnTo>
                    <a:pt x="84" y="91"/>
                  </a:lnTo>
                  <a:lnTo>
                    <a:pt x="76" y="76"/>
                  </a:lnTo>
                  <a:lnTo>
                    <a:pt x="38" y="3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4" name="未知"/>
            <p:cNvSpPr/>
            <p:nvPr/>
          </p:nvSpPr>
          <p:spPr>
            <a:xfrm>
              <a:off x="2320" y="510"/>
              <a:ext cx="76" cy="114"/>
            </a:xfrm>
            <a:custGeom>
              <a:avLst/>
              <a:gdLst>
                <a:gd name="txL" fmla="*/ 0 w 76"/>
                <a:gd name="txT" fmla="*/ 0 h 114"/>
                <a:gd name="txR" fmla="*/ 76 w 76"/>
                <a:gd name="txB" fmla="*/ 114 h 114"/>
              </a:gdLst>
              <a:ahLst/>
              <a:cxnLst>
                <a:cxn ang="0">
                  <a:pos x="8" y="0"/>
                </a:cxn>
                <a:cxn ang="0">
                  <a:pos x="0" y="15"/>
                </a:cxn>
                <a:cxn ang="0">
                  <a:pos x="15" y="38"/>
                </a:cxn>
                <a:cxn ang="0">
                  <a:pos x="53" y="99"/>
                </a:cxn>
                <a:cxn ang="0">
                  <a:pos x="68" y="114"/>
                </a:cxn>
                <a:cxn ang="0">
                  <a:pos x="76" y="106"/>
                </a:cxn>
                <a:cxn ang="0">
                  <a:pos x="61" y="84"/>
                </a:cxn>
                <a:cxn ang="0">
                  <a:pos x="23" y="23"/>
                </a:cxn>
                <a:cxn ang="0">
                  <a:pos x="8" y="0"/>
                </a:cxn>
              </a:cxnLst>
              <a:rect l="txL" t="txT" r="txR" b="txB"/>
              <a:pathLst>
                <a:path w="76" h="114">
                  <a:moveTo>
                    <a:pt x="8" y="0"/>
                  </a:moveTo>
                  <a:lnTo>
                    <a:pt x="0" y="15"/>
                  </a:lnTo>
                  <a:lnTo>
                    <a:pt x="15" y="38"/>
                  </a:lnTo>
                  <a:lnTo>
                    <a:pt x="53" y="99"/>
                  </a:lnTo>
                  <a:lnTo>
                    <a:pt x="68" y="114"/>
                  </a:lnTo>
                  <a:lnTo>
                    <a:pt x="76" y="106"/>
                  </a:lnTo>
                  <a:lnTo>
                    <a:pt x="61" y="84"/>
                  </a:lnTo>
                  <a:lnTo>
                    <a:pt x="23" y="2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5" name="未知"/>
            <p:cNvSpPr/>
            <p:nvPr/>
          </p:nvSpPr>
          <p:spPr>
            <a:xfrm>
              <a:off x="2411" y="647"/>
              <a:ext cx="99" cy="84"/>
            </a:xfrm>
            <a:custGeom>
              <a:avLst/>
              <a:gdLst>
                <a:gd name="txL" fmla="*/ 0 w 99"/>
                <a:gd name="txT" fmla="*/ 0 h 84"/>
                <a:gd name="txR" fmla="*/ 99 w 99"/>
                <a:gd name="txB" fmla="*/ 84 h 84"/>
              </a:gdLst>
              <a:ahLst/>
              <a:cxnLst>
                <a:cxn ang="0">
                  <a:pos x="8" y="0"/>
                </a:cxn>
                <a:cxn ang="0">
                  <a:pos x="0" y="15"/>
                </a:cxn>
                <a:cxn ang="0">
                  <a:pos x="38" y="53"/>
                </a:cxn>
                <a:cxn ang="0">
                  <a:pos x="69" y="76"/>
                </a:cxn>
                <a:cxn ang="0">
                  <a:pos x="99" y="84"/>
                </a:cxn>
                <a:cxn ang="0">
                  <a:pos x="99" y="68"/>
                </a:cxn>
                <a:cxn ang="0">
                  <a:pos x="76" y="61"/>
                </a:cxn>
                <a:cxn ang="0">
                  <a:pos x="46" y="38"/>
                </a:cxn>
                <a:cxn ang="0">
                  <a:pos x="8" y="0"/>
                </a:cxn>
              </a:cxnLst>
              <a:rect l="txL" t="txT" r="txR" b="txB"/>
              <a:pathLst>
                <a:path w="99" h="84">
                  <a:moveTo>
                    <a:pt x="8" y="0"/>
                  </a:moveTo>
                  <a:lnTo>
                    <a:pt x="0" y="15"/>
                  </a:lnTo>
                  <a:lnTo>
                    <a:pt x="38" y="53"/>
                  </a:lnTo>
                  <a:lnTo>
                    <a:pt x="69" y="76"/>
                  </a:lnTo>
                  <a:lnTo>
                    <a:pt x="99" y="84"/>
                  </a:lnTo>
                  <a:lnTo>
                    <a:pt x="99" y="68"/>
                  </a:lnTo>
                  <a:lnTo>
                    <a:pt x="76" y="61"/>
                  </a:lnTo>
                  <a:lnTo>
                    <a:pt x="46" y="3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6" name="Rectangle 35"/>
            <p:cNvSpPr/>
            <p:nvPr/>
          </p:nvSpPr>
          <p:spPr>
            <a:xfrm>
              <a:off x="2556" y="708"/>
              <a:ext cx="15" cy="15"/>
            </a:xfrm>
            <a:prstGeom prst="rect">
              <a:avLst/>
            </a:prstGeom>
            <a:solidFill>
              <a:srgbClr val="FF6600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Group 36"/>
          <p:cNvGrpSpPr/>
          <p:nvPr/>
        </p:nvGrpSpPr>
        <p:grpSpPr>
          <a:xfrm>
            <a:off x="1879600" y="4005263"/>
            <a:ext cx="1290638" cy="1439862"/>
            <a:chOff x="0" y="0"/>
            <a:chExt cx="610" cy="1135"/>
          </a:xfrm>
        </p:grpSpPr>
        <p:grpSp>
          <p:nvGrpSpPr>
            <p:cNvPr id="12332" name="Group 37"/>
            <p:cNvGrpSpPr/>
            <p:nvPr/>
          </p:nvGrpSpPr>
          <p:grpSpPr>
            <a:xfrm>
              <a:off x="184" y="0"/>
              <a:ext cx="426" cy="867"/>
              <a:chOff x="0" y="0"/>
              <a:chExt cx="426" cy="867"/>
            </a:xfrm>
          </p:grpSpPr>
          <p:sp>
            <p:nvSpPr>
              <p:cNvPr id="12334" name="Rectangle 38"/>
              <p:cNvSpPr/>
              <p:nvPr/>
            </p:nvSpPr>
            <p:spPr>
              <a:xfrm>
                <a:off x="198" y="0"/>
                <a:ext cx="80" cy="2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3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A</a:t>
                </a:r>
                <a:endParaRPr lang="en-US" altLang="zh-CN" dirty="0">
                  <a:latin typeface="Calibri" panose="020F0502020204030204" pitchFamily="34" charset="0"/>
                </a:endParaRPr>
              </a:p>
            </p:txBody>
          </p:sp>
          <p:grpSp>
            <p:nvGrpSpPr>
              <p:cNvPr id="12335" name="Group 39"/>
              <p:cNvGrpSpPr/>
              <p:nvPr/>
            </p:nvGrpSpPr>
            <p:grpSpPr>
              <a:xfrm>
                <a:off x="0" y="0"/>
                <a:ext cx="426" cy="867"/>
                <a:chOff x="0" y="0"/>
                <a:chExt cx="426" cy="867"/>
              </a:xfrm>
            </p:grpSpPr>
            <p:sp>
              <p:nvSpPr>
                <p:cNvPr id="12336" name="未知"/>
                <p:cNvSpPr/>
                <p:nvPr/>
              </p:nvSpPr>
              <p:spPr>
                <a:xfrm>
                  <a:off x="0" y="92"/>
                  <a:ext cx="381" cy="775"/>
                </a:xfrm>
                <a:custGeom>
                  <a:avLst/>
                  <a:gdLst>
                    <a:gd name="txL" fmla="*/ 0 w 381"/>
                    <a:gd name="txT" fmla="*/ 0 h 775"/>
                    <a:gd name="txR" fmla="*/ 381 w 381"/>
                    <a:gd name="txB" fmla="*/ 775 h 775"/>
                  </a:gdLst>
                  <a:ahLst/>
                  <a:cxnLst>
                    <a:cxn ang="0">
                      <a:pos x="0" y="768"/>
                    </a:cxn>
                    <a:cxn ang="0">
                      <a:pos x="8" y="775"/>
                    </a:cxn>
                    <a:cxn ang="0">
                      <a:pos x="381" y="7"/>
                    </a:cxn>
                    <a:cxn ang="0">
                      <a:pos x="373" y="0"/>
                    </a:cxn>
                    <a:cxn ang="0">
                      <a:pos x="0" y="768"/>
                    </a:cxn>
                  </a:cxnLst>
                  <a:rect l="txL" t="txT" r="txR" b="txB"/>
                  <a:pathLst>
                    <a:path w="381" h="775">
                      <a:moveTo>
                        <a:pt x="0" y="768"/>
                      </a:moveTo>
                      <a:lnTo>
                        <a:pt x="8" y="775"/>
                      </a:lnTo>
                      <a:lnTo>
                        <a:pt x="381" y="7"/>
                      </a:lnTo>
                      <a:lnTo>
                        <a:pt x="373" y="0"/>
                      </a:lnTo>
                      <a:lnTo>
                        <a:pt x="0" y="7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337" name="未知"/>
                <p:cNvSpPr/>
                <p:nvPr/>
              </p:nvSpPr>
              <p:spPr>
                <a:xfrm>
                  <a:off x="320" y="0"/>
                  <a:ext cx="106" cy="145"/>
                </a:xfrm>
                <a:custGeom>
                  <a:avLst/>
                  <a:gdLst>
                    <a:gd name="txL" fmla="*/ 0 w 106"/>
                    <a:gd name="txT" fmla="*/ 0 h 145"/>
                    <a:gd name="txR" fmla="*/ 106 w 106"/>
                    <a:gd name="txB" fmla="*/ 145 h 145"/>
                  </a:gdLst>
                  <a:ahLst/>
                  <a:cxnLst>
                    <a:cxn ang="0">
                      <a:pos x="106" y="145"/>
                    </a:cxn>
                    <a:cxn ang="0">
                      <a:pos x="106" y="0"/>
                    </a:cxn>
                    <a:cxn ang="0">
                      <a:pos x="0" y="84"/>
                    </a:cxn>
                    <a:cxn ang="0">
                      <a:pos x="106" y="145"/>
                    </a:cxn>
                  </a:cxnLst>
                  <a:rect l="txL" t="txT" r="txR" b="txB"/>
                  <a:pathLst>
                    <a:path w="106" h="145">
                      <a:moveTo>
                        <a:pt x="106" y="145"/>
                      </a:moveTo>
                      <a:lnTo>
                        <a:pt x="106" y="0"/>
                      </a:lnTo>
                      <a:lnTo>
                        <a:pt x="0" y="84"/>
                      </a:lnTo>
                      <a:lnTo>
                        <a:pt x="106" y="1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2333" name="Text Box 42"/>
            <p:cNvSpPr txBox="1"/>
            <p:nvPr/>
          </p:nvSpPr>
          <p:spPr>
            <a:xfrm>
              <a:off x="0" y="723"/>
              <a:ext cx="172" cy="4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dirty="0">
                  <a:latin typeface="Times New Roman" panose="02020603050405020304" pitchFamily="18" charset="0"/>
                </a:rPr>
                <a:t>o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43"/>
          <p:cNvGrpSpPr/>
          <p:nvPr/>
        </p:nvGrpSpPr>
        <p:grpSpPr>
          <a:xfrm>
            <a:off x="2252663" y="3903663"/>
            <a:ext cx="2789237" cy="1208087"/>
            <a:chOff x="0" y="0"/>
            <a:chExt cx="1318" cy="951"/>
          </a:xfrm>
        </p:grpSpPr>
        <p:sp>
          <p:nvSpPr>
            <p:cNvPr id="12328" name="Rectangle 44"/>
            <p:cNvSpPr/>
            <p:nvPr/>
          </p:nvSpPr>
          <p:spPr>
            <a:xfrm>
              <a:off x="1179" y="76"/>
              <a:ext cx="139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300" dirty="0">
                  <a:solidFill>
                    <a:srgbClr val="000000"/>
                  </a:solidFill>
                  <a:latin typeface="Calibri" panose="020F0502020204030204" pitchFamily="34" charset="0"/>
                </a:rPr>
                <a:t>  </a:t>
              </a:r>
              <a:r>
                <a:rPr lang="en-US" altLang="zh-CN" sz="2300" dirty="0">
                  <a:solidFill>
                    <a:srgbClr val="000000"/>
                  </a:solidFill>
                  <a:latin typeface="Calibri" panose="020F0502020204030204" pitchFamily="34" charset="0"/>
                </a:rPr>
                <a:t>B</a:t>
              </a:r>
              <a:endParaRPr lang="en-US" altLang="zh-CN" dirty="0">
                <a:latin typeface="Calibri" panose="020F0502020204030204" pitchFamily="34" charset="0"/>
              </a:endParaRPr>
            </a:p>
          </p:txBody>
        </p:sp>
        <p:grpSp>
          <p:nvGrpSpPr>
            <p:cNvPr id="12329" name="Group 45"/>
            <p:cNvGrpSpPr/>
            <p:nvPr/>
          </p:nvGrpSpPr>
          <p:grpSpPr>
            <a:xfrm>
              <a:off x="0" y="0"/>
              <a:ext cx="1308" cy="951"/>
              <a:chOff x="0" y="0"/>
              <a:chExt cx="1308" cy="951"/>
            </a:xfrm>
          </p:grpSpPr>
          <p:sp>
            <p:nvSpPr>
              <p:cNvPr id="12330" name="未知"/>
              <p:cNvSpPr/>
              <p:nvPr/>
            </p:nvSpPr>
            <p:spPr>
              <a:xfrm>
                <a:off x="0" y="46"/>
                <a:ext cx="1232" cy="905"/>
              </a:xfrm>
              <a:custGeom>
                <a:avLst/>
                <a:gdLst>
                  <a:gd name="txL" fmla="*/ 0 w 1232"/>
                  <a:gd name="txT" fmla="*/ 0 h 905"/>
                  <a:gd name="txR" fmla="*/ 1232 w 1232"/>
                  <a:gd name="txB" fmla="*/ 905 h 905"/>
                </a:gdLst>
                <a:ahLst/>
                <a:cxnLst>
                  <a:cxn ang="0">
                    <a:pos x="0" y="890"/>
                  </a:cxn>
                  <a:cxn ang="0">
                    <a:pos x="8" y="905"/>
                  </a:cxn>
                  <a:cxn ang="0">
                    <a:pos x="1232" y="15"/>
                  </a:cxn>
                  <a:cxn ang="0">
                    <a:pos x="1225" y="0"/>
                  </a:cxn>
                  <a:cxn ang="0">
                    <a:pos x="0" y="890"/>
                  </a:cxn>
                </a:cxnLst>
                <a:rect l="txL" t="txT" r="txR" b="txB"/>
                <a:pathLst>
                  <a:path w="1232" h="905">
                    <a:moveTo>
                      <a:pt x="0" y="890"/>
                    </a:moveTo>
                    <a:lnTo>
                      <a:pt x="8" y="905"/>
                    </a:lnTo>
                    <a:lnTo>
                      <a:pt x="1232" y="15"/>
                    </a:lnTo>
                    <a:lnTo>
                      <a:pt x="1225" y="0"/>
                    </a:lnTo>
                    <a:lnTo>
                      <a:pt x="0" y="89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31" name="未知"/>
              <p:cNvSpPr/>
              <p:nvPr/>
            </p:nvSpPr>
            <p:spPr>
              <a:xfrm>
                <a:off x="1179" y="0"/>
                <a:ext cx="129" cy="122"/>
              </a:xfrm>
              <a:custGeom>
                <a:avLst/>
                <a:gdLst>
                  <a:gd name="txL" fmla="*/ 0 w 129"/>
                  <a:gd name="txT" fmla="*/ 0 h 122"/>
                  <a:gd name="txR" fmla="*/ 129 w 129"/>
                  <a:gd name="txB" fmla="*/ 122 h 122"/>
                </a:gdLst>
                <a:ahLst/>
                <a:cxnLst>
                  <a:cxn ang="0">
                    <a:pos x="69" y="122"/>
                  </a:cxn>
                  <a:cxn ang="0">
                    <a:pos x="129" y="0"/>
                  </a:cxn>
                  <a:cxn ang="0">
                    <a:pos x="0" y="23"/>
                  </a:cxn>
                  <a:cxn ang="0">
                    <a:pos x="69" y="122"/>
                  </a:cxn>
                </a:cxnLst>
                <a:rect l="txL" t="txT" r="txR" b="txB"/>
                <a:pathLst>
                  <a:path w="129" h="122">
                    <a:moveTo>
                      <a:pt x="69" y="122"/>
                    </a:moveTo>
                    <a:lnTo>
                      <a:pt x="129" y="0"/>
                    </a:lnTo>
                    <a:lnTo>
                      <a:pt x="0" y="23"/>
                    </a:lnTo>
                    <a:lnTo>
                      <a:pt x="69" y="1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48"/>
          <p:cNvGrpSpPr/>
          <p:nvPr/>
        </p:nvGrpSpPr>
        <p:grpSpPr>
          <a:xfrm>
            <a:off x="3097213" y="3257550"/>
            <a:ext cx="981075" cy="747713"/>
            <a:chOff x="0" y="-10"/>
            <a:chExt cx="464" cy="588"/>
          </a:xfrm>
        </p:grpSpPr>
        <p:grpSp>
          <p:nvGrpSpPr>
            <p:cNvPr id="12325" name="Group 49"/>
            <p:cNvGrpSpPr/>
            <p:nvPr/>
          </p:nvGrpSpPr>
          <p:grpSpPr>
            <a:xfrm>
              <a:off x="0" y="213"/>
              <a:ext cx="464" cy="365"/>
              <a:chOff x="0" y="0"/>
              <a:chExt cx="464" cy="365"/>
            </a:xfrm>
          </p:grpSpPr>
          <p:sp>
            <p:nvSpPr>
              <p:cNvPr id="12326" name="未知"/>
              <p:cNvSpPr/>
              <p:nvPr/>
            </p:nvSpPr>
            <p:spPr>
              <a:xfrm>
                <a:off x="0" y="68"/>
                <a:ext cx="373" cy="297"/>
              </a:xfrm>
              <a:custGeom>
                <a:avLst/>
                <a:gdLst>
                  <a:gd name="txL" fmla="*/ 0 w 373"/>
                  <a:gd name="txT" fmla="*/ 0 h 297"/>
                  <a:gd name="txR" fmla="*/ 373 w 373"/>
                  <a:gd name="txB" fmla="*/ 297 h 297"/>
                </a:gdLst>
                <a:ahLst/>
                <a:cxnLst>
                  <a:cxn ang="0">
                    <a:pos x="0" y="274"/>
                  </a:cxn>
                  <a:cxn ang="0">
                    <a:pos x="23" y="297"/>
                  </a:cxn>
                  <a:cxn ang="0">
                    <a:pos x="373" y="23"/>
                  </a:cxn>
                  <a:cxn ang="0">
                    <a:pos x="350" y="0"/>
                  </a:cxn>
                  <a:cxn ang="0">
                    <a:pos x="0" y="274"/>
                  </a:cxn>
                </a:cxnLst>
                <a:rect l="txL" t="txT" r="txR" b="txB"/>
                <a:pathLst>
                  <a:path w="373" h="297">
                    <a:moveTo>
                      <a:pt x="0" y="274"/>
                    </a:moveTo>
                    <a:lnTo>
                      <a:pt x="23" y="297"/>
                    </a:lnTo>
                    <a:lnTo>
                      <a:pt x="373" y="23"/>
                    </a:lnTo>
                    <a:lnTo>
                      <a:pt x="350" y="0"/>
                    </a:lnTo>
                    <a:lnTo>
                      <a:pt x="0" y="27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27" name="未知"/>
              <p:cNvSpPr/>
              <p:nvPr/>
            </p:nvSpPr>
            <p:spPr>
              <a:xfrm>
                <a:off x="319" y="0"/>
                <a:ext cx="145" cy="129"/>
              </a:xfrm>
              <a:custGeom>
                <a:avLst/>
                <a:gdLst>
                  <a:gd name="txL" fmla="*/ 0 w 145"/>
                  <a:gd name="txT" fmla="*/ 0 h 129"/>
                  <a:gd name="txR" fmla="*/ 145 w 145"/>
                  <a:gd name="txB" fmla="*/ 129 h 129"/>
                </a:gdLst>
                <a:ahLst/>
                <a:cxnLst>
                  <a:cxn ang="0">
                    <a:pos x="54" y="129"/>
                  </a:cxn>
                  <a:cxn ang="0">
                    <a:pos x="145" y="0"/>
                  </a:cxn>
                  <a:cxn ang="0">
                    <a:pos x="0" y="61"/>
                  </a:cxn>
                  <a:cxn ang="0">
                    <a:pos x="54" y="129"/>
                  </a:cxn>
                </a:cxnLst>
                <a:rect l="txL" t="txT" r="txR" b="txB"/>
                <a:pathLst>
                  <a:path w="145" h="129">
                    <a:moveTo>
                      <a:pt x="54" y="129"/>
                    </a:moveTo>
                    <a:lnTo>
                      <a:pt x="145" y="0"/>
                    </a:lnTo>
                    <a:lnTo>
                      <a:pt x="0" y="61"/>
                    </a:lnTo>
                    <a:lnTo>
                      <a:pt x="54" y="129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2297" name="Object 6"/>
            <p:cNvGraphicFramePr/>
            <p:nvPr/>
          </p:nvGraphicFramePr>
          <p:xfrm>
            <a:off x="19" y="-10"/>
            <a:ext cx="277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9" imgW="177800" imgH="228600" progId="Equation.DSMT4">
                    <p:embed/>
                  </p:oleObj>
                </mc:Choice>
                <mc:Fallback>
                  <p:oleObj name="" r:id="rId9" imgW="177800" imgH="228600" progId="Equation.DSMT4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" y="-10"/>
                          <a:ext cx="277" cy="3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3"/>
          <p:cNvGrpSpPr/>
          <p:nvPr/>
        </p:nvGrpSpPr>
        <p:grpSpPr>
          <a:xfrm>
            <a:off x="5046663" y="3797300"/>
            <a:ext cx="1722437" cy="762000"/>
            <a:chOff x="0" y="-9"/>
            <a:chExt cx="814" cy="599"/>
          </a:xfrm>
        </p:grpSpPr>
        <p:grpSp>
          <p:nvGrpSpPr>
            <p:cNvPr id="12322" name="Group 54"/>
            <p:cNvGrpSpPr/>
            <p:nvPr/>
          </p:nvGrpSpPr>
          <p:grpSpPr>
            <a:xfrm>
              <a:off x="0" y="57"/>
              <a:ext cx="814" cy="533"/>
              <a:chOff x="0" y="0"/>
              <a:chExt cx="814" cy="533"/>
            </a:xfrm>
          </p:grpSpPr>
          <p:sp>
            <p:nvSpPr>
              <p:cNvPr id="12323" name="未知"/>
              <p:cNvSpPr/>
              <p:nvPr/>
            </p:nvSpPr>
            <p:spPr>
              <a:xfrm>
                <a:off x="0" y="0"/>
                <a:ext cx="715" cy="479"/>
              </a:xfrm>
              <a:custGeom>
                <a:avLst/>
                <a:gdLst>
                  <a:gd name="txL" fmla="*/ 0 w 715"/>
                  <a:gd name="txT" fmla="*/ 0 h 479"/>
                  <a:gd name="txR" fmla="*/ 715 w 715"/>
                  <a:gd name="txB" fmla="*/ 479 h 479"/>
                </a:gdLst>
                <a:ahLst/>
                <a:cxnLst>
                  <a:cxn ang="0">
                    <a:pos x="16" y="0"/>
                  </a:cxn>
                  <a:cxn ang="0">
                    <a:pos x="0" y="23"/>
                  </a:cxn>
                  <a:cxn ang="0">
                    <a:pos x="700" y="479"/>
                  </a:cxn>
                  <a:cxn ang="0">
                    <a:pos x="715" y="457"/>
                  </a:cxn>
                  <a:cxn ang="0">
                    <a:pos x="16" y="0"/>
                  </a:cxn>
                </a:cxnLst>
                <a:rect l="txL" t="txT" r="txR" b="txB"/>
                <a:pathLst>
                  <a:path w="715" h="479">
                    <a:moveTo>
                      <a:pt x="16" y="0"/>
                    </a:moveTo>
                    <a:lnTo>
                      <a:pt x="0" y="23"/>
                    </a:lnTo>
                    <a:lnTo>
                      <a:pt x="700" y="479"/>
                    </a:lnTo>
                    <a:lnTo>
                      <a:pt x="715" y="457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24" name="未知"/>
              <p:cNvSpPr/>
              <p:nvPr/>
            </p:nvSpPr>
            <p:spPr>
              <a:xfrm>
                <a:off x="670" y="411"/>
                <a:ext cx="144" cy="122"/>
              </a:xfrm>
              <a:custGeom>
                <a:avLst/>
                <a:gdLst>
                  <a:gd name="txL" fmla="*/ 0 w 144"/>
                  <a:gd name="txT" fmla="*/ 0 h 122"/>
                  <a:gd name="txR" fmla="*/ 144 w 144"/>
                  <a:gd name="txB" fmla="*/ 122 h 122"/>
                </a:gdLst>
                <a:ahLst/>
                <a:cxnLst>
                  <a:cxn ang="0">
                    <a:pos x="0" y="76"/>
                  </a:cxn>
                  <a:cxn ang="0">
                    <a:pos x="144" y="122"/>
                  </a:cxn>
                  <a:cxn ang="0">
                    <a:pos x="45" y="0"/>
                  </a:cxn>
                  <a:cxn ang="0">
                    <a:pos x="0" y="76"/>
                  </a:cxn>
                </a:cxnLst>
                <a:rect l="txL" t="txT" r="txR" b="txB"/>
                <a:pathLst>
                  <a:path w="144" h="122">
                    <a:moveTo>
                      <a:pt x="0" y="76"/>
                    </a:moveTo>
                    <a:lnTo>
                      <a:pt x="144" y="122"/>
                    </a:lnTo>
                    <a:lnTo>
                      <a:pt x="45" y="0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2296" name="Object 7"/>
            <p:cNvGraphicFramePr/>
            <p:nvPr/>
          </p:nvGraphicFramePr>
          <p:xfrm>
            <a:off x="370" y="-9"/>
            <a:ext cx="25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11" imgW="177800" imgH="228600" progId="Equation.DSMT4">
                    <p:embed/>
                  </p:oleObj>
                </mc:Choice>
                <mc:Fallback>
                  <p:oleObj name="" r:id="rId11" imgW="177800" imgH="228600" progId="Equation.DSMT4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0" y="-9"/>
                          <a:ext cx="254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66"/>
          <p:cNvGrpSpPr/>
          <p:nvPr/>
        </p:nvGrpSpPr>
        <p:grpSpPr>
          <a:xfrm>
            <a:off x="8345488" y="4186238"/>
            <a:ext cx="2303462" cy="881062"/>
            <a:chOff x="0" y="0"/>
            <a:chExt cx="1088" cy="693"/>
          </a:xfrm>
        </p:grpSpPr>
        <p:grpSp>
          <p:nvGrpSpPr>
            <p:cNvPr id="12319" name="Group 67"/>
            <p:cNvGrpSpPr/>
            <p:nvPr/>
          </p:nvGrpSpPr>
          <p:grpSpPr>
            <a:xfrm>
              <a:off x="0" y="0"/>
              <a:ext cx="1088" cy="419"/>
              <a:chOff x="0" y="0"/>
              <a:chExt cx="1088" cy="419"/>
            </a:xfrm>
          </p:grpSpPr>
          <p:sp>
            <p:nvSpPr>
              <p:cNvPr id="12320" name="未知"/>
              <p:cNvSpPr/>
              <p:nvPr/>
            </p:nvSpPr>
            <p:spPr>
              <a:xfrm>
                <a:off x="0" y="0"/>
                <a:ext cx="966" cy="381"/>
              </a:xfrm>
              <a:custGeom>
                <a:avLst/>
                <a:gdLst>
                  <a:gd name="txL" fmla="*/ 0 w 966"/>
                  <a:gd name="txT" fmla="*/ 0 h 381"/>
                  <a:gd name="txR" fmla="*/ 966 w 966"/>
                  <a:gd name="txB" fmla="*/ 381 h 381"/>
                </a:gdLst>
                <a:ahLst/>
                <a:cxnLst>
                  <a:cxn ang="0">
                    <a:pos x="8" y="0"/>
                  </a:cxn>
                  <a:cxn ang="0">
                    <a:pos x="0" y="31"/>
                  </a:cxn>
                  <a:cxn ang="0">
                    <a:pos x="959" y="381"/>
                  </a:cxn>
                  <a:cxn ang="0">
                    <a:pos x="966" y="350"/>
                  </a:cxn>
                  <a:cxn ang="0">
                    <a:pos x="8" y="0"/>
                  </a:cxn>
                </a:cxnLst>
                <a:rect l="txL" t="txT" r="txR" b="txB"/>
                <a:pathLst>
                  <a:path w="966" h="381">
                    <a:moveTo>
                      <a:pt x="8" y="0"/>
                    </a:moveTo>
                    <a:lnTo>
                      <a:pt x="0" y="31"/>
                    </a:lnTo>
                    <a:lnTo>
                      <a:pt x="959" y="381"/>
                    </a:lnTo>
                    <a:lnTo>
                      <a:pt x="966" y="35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21" name="未知"/>
              <p:cNvSpPr/>
              <p:nvPr/>
            </p:nvSpPr>
            <p:spPr>
              <a:xfrm>
                <a:off x="928" y="327"/>
                <a:ext cx="160" cy="92"/>
              </a:xfrm>
              <a:custGeom>
                <a:avLst/>
                <a:gdLst>
                  <a:gd name="txL" fmla="*/ 0 w 160"/>
                  <a:gd name="txT" fmla="*/ 0 h 92"/>
                  <a:gd name="txR" fmla="*/ 160 w 160"/>
                  <a:gd name="txB" fmla="*/ 92 h 92"/>
                </a:gdLst>
                <a:ahLst/>
                <a:cxnLst>
                  <a:cxn ang="0">
                    <a:pos x="0" y="84"/>
                  </a:cxn>
                  <a:cxn ang="0">
                    <a:pos x="160" y="92"/>
                  </a:cxn>
                  <a:cxn ang="0">
                    <a:pos x="38" y="0"/>
                  </a:cxn>
                  <a:cxn ang="0">
                    <a:pos x="0" y="84"/>
                  </a:cxn>
                </a:cxnLst>
                <a:rect l="txL" t="txT" r="txR" b="txB"/>
                <a:pathLst>
                  <a:path w="160" h="92">
                    <a:moveTo>
                      <a:pt x="0" y="84"/>
                    </a:moveTo>
                    <a:lnTo>
                      <a:pt x="160" y="92"/>
                    </a:lnTo>
                    <a:lnTo>
                      <a:pt x="38" y="0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2295" name="Object 8"/>
            <p:cNvGraphicFramePr/>
            <p:nvPr/>
          </p:nvGraphicFramePr>
          <p:xfrm>
            <a:off x="644" y="367"/>
            <a:ext cx="25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13" imgW="177800" imgH="228600" progId="Equation.DSMT4">
                    <p:embed/>
                  </p:oleObj>
                </mc:Choice>
                <mc:Fallback>
                  <p:oleObj name="" r:id="rId13" imgW="177800" imgH="228600" progId="Equation.DSMT4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44" y="367"/>
                          <a:ext cx="254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71"/>
          <p:cNvGrpSpPr/>
          <p:nvPr/>
        </p:nvGrpSpPr>
        <p:grpSpPr>
          <a:xfrm>
            <a:off x="8331200" y="3333750"/>
            <a:ext cx="1319213" cy="863600"/>
            <a:chOff x="0" y="-10"/>
            <a:chExt cx="623" cy="680"/>
          </a:xfrm>
        </p:grpSpPr>
        <p:grpSp>
          <p:nvGrpSpPr>
            <p:cNvPr id="12316" name="Group 72"/>
            <p:cNvGrpSpPr/>
            <p:nvPr/>
          </p:nvGrpSpPr>
          <p:grpSpPr>
            <a:xfrm>
              <a:off x="0" y="321"/>
              <a:ext cx="623" cy="349"/>
              <a:chOff x="0" y="0"/>
              <a:chExt cx="623" cy="349"/>
            </a:xfrm>
          </p:grpSpPr>
          <p:sp>
            <p:nvSpPr>
              <p:cNvPr id="12317" name="未知"/>
              <p:cNvSpPr/>
              <p:nvPr/>
            </p:nvSpPr>
            <p:spPr>
              <a:xfrm>
                <a:off x="0" y="45"/>
                <a:ext cx="509" cy="304"/>
              </a:xfrm>
              <a:custGeom>
                <a:avLst/>
                <a:gdLst>
                  <a:gd name="txL" fmla="*/ 0 w 509"/>
                  <a:gd name="txT" fmla="*/ 0 h 304"/>
                  <a:gd name="txR" fmla="*/ 509 w 509"/>
                  <a:gd name="txB" fmla="*/ 304 h 304"/>
                </a:gdLst>
                <a:ahLst/>
                <a:cxnLst>
                  <a:cxn ang="0">
                    <a:pos x="0" y="282"/>
                  </a:cxn>
                  <a:cxn ang="0">
                    <a:pos x="15" y="304"/>
                  </a:cxn>
                  <a:cxn ang="0">
                    <a:pos x="509" y="23"/>
                  </a:cxn>
                  <a:cxn ang="0">
                    <a:pos x="494" y="0"/>
                  </a:cxn>
                  <a:cxn ang="0">
                    <a:pos x="0" y="282"/>
                  </a:cxn>
                </a:cxnLst>
                <a:rect l="txL" t="txT" r="txR" b="txB"/>
                <a:pathLst>
                  <a:path w="509" h="304">
                    <a:moveTo>
                      <a:pt x="0" y="282"/>
                    </a:moveTo>
                    <a:lnTo>
                      <a:pt x="15" y="304"/>
                    </a:lnTo>
                    <a:lnTo>
                      <a:pt x="509" y="23"/>
                    </a:lnTo>
                    <a:lnTo>
                      <a:pt x="494" y="0"/>
                    </a:lnTo>
                    <a:lnTo>
                      <a:pt x="0" y="282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18" name="未知"/>
              <p:cNvSpPr/>
              <p:nvPr/>
            </p:nvSpPr>
            <p:spPr>
              <a:xfrm>
                <a:off x="471" y="0"/>
                <a:ext cx="152" cy="114"/>
              </a:xfrm>
              <a:custGeom>
                <a:avLst/>
                <a:gdLst>
                  <a:gd name="txL" fmla="*/ 0 w 152"/>
                  <a:gd name="txT" fmla="*/ 0 h 114"/>
                  <a:gd name="txR" fmla="*/ 152 w 152"/>
                  <a:gd name="txB" fmla="*/ 114 h 114"/>
                </a:gdLst>
                <a:ahLst/>
                <a:cxnLst>
                  <a:cxn ang="0">
                    <a:pos x="38" y="114"/>
                  </a:cxn>
                  <a:cxn ang="0">
                    <a:pos x="152" y="0"/>
                  </a:cxn>
                  <a:cxn ang="0">
                    <a:pos x="0" y="30"/>
                  </a:cxn>
                  <a:cxn ang="0">
                    <a:pos x="38" y="114"/>
                  </a:cxn>
                </a:cxnLst>
                <a:rect l="txL" t="txT" r="txR" b="txB"/>
                <a:pathLst>
                  <a:path w="152" h="114">
                    <a:moveTo>
                      <a:pt x="38" y="114"/>
                    </a:moveTo>
                    <a:lnTo>
                      <a:pt x="152" y="0"/>
                    </a:lnTo>
                    <a:lnTo>
                      <a:pt x="0" y="30"/>
                    </a:lnTo>
                    <a:lnTo>
                      <a:pt x="38" y="11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2294" name="Object 9"/>
            <p:cNvGraphicFramePr/>
            <p:nvPr/>
          </p:nvGraphicFramePr>
          <p:xfrm>
            <a:off x="219" y="-10"/>
            <a:ext cx="293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15" imgW="177800" imgH="228600" progId="Equation.DSMT4">
                    <p:embed/>
                  </p:oleObj>
                </mc:Choice>
                <mc:Fallback>
                  <p:oleObj name="" r:id="rId15" imgW="177800" imgH="228600" progId="Equation.DSMT4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19" y="-10"/>
                          <a:ext cx="293" cy="3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74"/>
          <p:cNvGrpSpPr/>
          <p:nvPr/>
        </p:nvGrpSpPr>
        <p:grpSpPr>
          <a:xfrm>
            <a:off x="9628188" y="3810000"/>
            <a:ext cx="1076325" cy="889000"/>
            <a:chOff x="7177088" y="3429000"/>
            <a:chExt cx="807179" cy="1111250"/>
          </a:xfrm>
        </p:grpSpPr>
        <p:grpSp>
          <p:nvGrpSpPr>
            <p:cNvPr id="12313" name="Group 63"/>
            <p:cNvGrpSpPr/>
            <p:nvPr/>
          </p:nvGrpSpPr>
          <p:grpSpPr>
            <a:xfrm>
              <a:off x="7177088" y="3429000"/>
              <a:ext cx="760413" cy="1111250"/>
              <a:chOff x="0" y="0"/>
              <a:chExt cx="479" cy="700"/>
            </a:xfrm>
          </p:grpSpPr>
          <p:sp>
            <p:nvSpPr>
              <p:cNvPr id="12314" name="未知"/>
              <p:cNvSpPr/>
              <p:nvPr/>
            </p:nvSpPr>
            <p:spPr>
              <a:xfrm>
                <a:off x="0" y="0"/>
                <a:ext cx="419" cy="601"/>
              </a:xfrm>
              <a:custGeom>
                <a:avLst/>
                <a:gdLst>
                  <a:gd name="txL" fmla="*/ 0 w 419"/>
                  <a:gd name="txT" fmla="*/ 0 h 601"/>
                  <a:gd name="txR" fmla="*/ 419 w 419"/>
                  <a:gd name="txB" fmla="*/ 601 h 601"/>
                </a:gdLst>
                <a:ahLst/>
                <a:cxnLst>
                  <a:cxn ang="0">
                    <a:pos x="23" y="0"/>
                  </a:cxn>
                  <a:cxn ang="0">
                    <a:pos x="0" y="23"/>
                  </a:cxn>
                  <a:cxn ang="0">
                    <a:pos x="396" y="601"/>
                  </a:cxn>
                  <a:cxn ang="0">
                    <a:pos x="419" y="578"/>
                  </a:cxn>
                  <a:cxn ang="0">
                    <a:pos x="23" y="0"/>
                  </a:cxn>
                </a:cxnLst>
                <a:rect l="txL" t="txT" r="txR" b="txB"/>
                <a:pathLst>
                  <a:path w="419" h="601">
                    <a:moveTo>
                      <a:pt x="23" y="0"/>
                    </a:moveTo>
                    <a:lnTo>
                      <a:pt x="0" y="23"/>
                    </a:lnTo>
                    <a:lnTo>
                      <a:pt x="396" y="601"/>
                    </a:lnTo>
                    <a:lnTo>
                      <a:pt x="419" y="578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15" name="未知"/>
              <p:cNvSpPr/>
              <p:nvPr/>
            </p:nvSpPr>
            <p:spPr>
              <a:xfrm>
                <a:off x="350" y="547"/>
                <a:ext cx="129" cy="153"/>
              </a:xfrm>
              <a:custGeom>
                <a:avLst/>
                <a:gdLst>
                  <a:gd name="txL" fmla="*/ 0 w 129"/>
                  <a:gd name="txT" fmla="*/ 0 h 153"/>
                  <a:gd name="txR" fmla="*/ 129 w 129"/>
                  <a:gd name="txB" fmla="*/ 153 h 153"/>
                </a:gdLst>
                <a:ahLst/>
                <a:cxnLst>
                  <a:cxn ang="0">
                    <a:pos x="0" y="54"/>
                  </a:cxn>
                  <a:cxn ang="0">
                    <a:pos x="129" y="153"/>
                  </a:cxn>
                  <a:cxn ang="0">
                    <a:pos x="84" y="0"/>
                  </a:cxn>
                  <a:cxn ang="0">
                    <a:pos x="0" y="54"/>
                  </a:cxn>
                </a:cxnLst>
                <a:rect l="txL" t="txT" r="txR" b="txB"/>
                <a:pathLst>
                  <a:path w="129" h="153">
                    <a:moveTo>
                      <a:pt x="0" y="54"/>
                    </a:moveTo>
                    <a:lnTo>
                      <a:pt x="129" y="153"/>
                    </a:lnTo>
                    <a:lnTo>
                      <a:pt x="84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2293" name="Object 10"/>
            <p:cNvGraphicFramePr/>
            <p:nvPr/>
          </p:nvGraphicFramePr>
          <p:xfrm>
            <a:off x="7524328" y="3501008"/>
            <a:ext cx="459939" cy="383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17" imgW="228600" imgH="190500" progId="Equation.DSMT4">
                    <p:embed/>
                  </p:oleObj>
                </mc:Choice>
                <mc:Fallback>
                  <p:oleObj name="" r:id="rId17" imgW="228600" imgH="190500" progId="Equation.DSMT4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24328" y="3501008"/>
                          <a:ext cx="459939" cy="383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12" name="Text Box 2"/>
          <p:cNvSpPr/>
          <p:nvPr/>
        </p:nvSpPr>
        <p:spPr>
          <a:xfrm>
            <a:off x="1028700" y="1214438"/>
            <a:ext cx="2571750" cy="539750"/>
          </a:xfrm>
          <a:prstGeom prst="homePlate">
            <a:avLst>
              <a:gd name="adj" fmla="val 49544"/>
            </a:avLst>
          </a:prstGeom>
          <a:solidFill>
            <a:srgbClr val="539A84"/>
          </a:solidFill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四、加速度</a:t>
            </a:r>
            <a:endParaRPr lang="zh-CN" altLang="en-US" sz="2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292" name="Object 11"/>
          <p:cNvGraphicFramePr/>
          <p:nvPr/>
        </p:nvGraphicFramePr>
        <p:xfrm>
          <a:off x="2832100" y="1244600"/>
          <a:ext cx="436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19" imgW="139700" imgH="190500" progId="Equation.DSMT4">
                  <p:embed/>
                </p:oleObj>
              </mc:Choice>
              <mc:Fallback>
                <p:oleObj name="" r:id="rId19" imgW="139700" imgH="1905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32100" y="1244600"/>
                        <a:ext cx="436563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3278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794" name="Object 2"/>
          <p:cNvGraphicFramePr/>
          <p:nvPr/>
        </p:nvGraphicFramePr>
        <p:xfrm>
          <a:off x="838200" y="1797050"/>
          <a:ext cx="56642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1" imgW="1917700" imgH="419100" progId="Equation.DSMT4">
                  <p:embed/>
                </p:oleObj>
              </mc:Choice>
              <mc:Fallback>
                <p:oleObj name="" r:id="rId1" imgW="1917700" imgH="4191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797050"/>
                        <a:ext cx="5664200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Text Box 4"/>
          <p:cNvSpPr txBox="1"/>
          <p:nvPr/>
        </p:nvSpPr>
        <p:spPr>
          <a:xfrm>
            <a:off x="371475" y="1220788"/>
            <a:ext cx="3651250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 anchor="ctr" anchorCtr="0">
            <a:spAutoFit/>
          </a:bodyPr>
          <a:p>
            <a:pPr algn="ctr"/>
            <a:r>
              <a: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加速度在直角坐标系中</a:t>
            </a:r>
            <a:endParaRPr lang="zh-CN" altLang="en-US" sz="2400" b="1" dirty="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3799" name="Object 3"/>
          <p:cNvGraphicFramePr/>
          <p:nvPr/>
        </p:nvGraphicFramePr>
        <p:xfrm>
          <a:off x="1200150" y="2755900"/>
          <a:ext cx="35131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3" imgW="1091565" imgH="279400" progId="Equation.DSMT4">
                  <p:embed/>
                </p:oleObj>
              </mc:Choice>
              <mc:Fallback>
                <p:oleObj name="" r:id="rId3" imgW="1091565" imgH="2794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0150" y="2755900"/>
                        <a:ext cx="3513138" cy="67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4"/>
          <p:cNvGraphicFramePr/>
          <p:nvPr/>
        </p:nvGraphicFramePr>
        <p:xfrm>
          <a:off x="6554788" y="1797050"/>
          <a:ext cx="428466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5" imgW="1485900" imgH="419100" progId="Equation.DSMT4">
                  <p:embed/>
                </p:oleObj>
              </mc:Choice>
              <mc:Fallback>
                <p:oleObj name="" r:id="rId5" imgW="1485900" imgH="4191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54788" y="1797050"/>
                        <a:ext cx="4284662" cy="90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5"/>
          <p:cNvGraphicFramePr/>
          <p:nvPr/>
        </p:nvGraphicFramePr>
        <p:xfrm>
          <a:off x="995363" y="3746500"/>
          <a:ext cx="38004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7" imgW="1167765" imgH="304800" progId="Equation.DSMT4">
                  <p:embed/>
                </p:oleObj>
              </mc:Choice>
              <mc:Fallback>
                <p:oleObj name="" r:id="rId7" imgW="1167765" imgH="3048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95363" y="3746500"/>
                        <a:ext cx="3800475" cy="742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6"/>
          <p:cNvGraphicFramePr/>
          <p:nvPr/>
        </p:nvGraphicFramePr>
        <p:xfrm>
          <a:off x="1576388" y="4665663"/>
          <a:ext cx="5584825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9" imgW="1917700" imgH="571500" progId="Equation.DSMT4">
                  <p:embed/>
                </p:oleObj>
              </mc:Choice>
              <mc:Fallback>
                <p:oleObj name="" r:id="rId9" imgW="1917700" imgH="5715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76388" y="4665663"/>
                        <a:ext cx="5584825" cy="1244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7"/>
          <p:cNvGraphicFramePr/>
          <p:nvPr/>
        </p:nvGraphicFramePr>
        <p:xfrm>
          <a:off x="4965700" y="3395663"/>
          <a:ext cx="584993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1" imgW="1879600" imgH="558800" progId="Equation.DSMT4">
                  <p:embed/>
                </p:oleObj>
              </mc:Choice>
              <mc:Fallback>
                <p:oleObj name="" r:id="rId11" imgW="1879600" imgH="5588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65700" y="3395663"/>
                        <a:ext cx="5849938" cy="1304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3" name="Text Box 3"/>
          <p:cNvSpPr txBox="1"/>
          <p:nvPr/>
        </p:nvSpPr>
        <p:spPr>
          <a:xfrm>
            <a:off x="431800" y="2349500"/>
            <a:ext cx="6748463" cy="492125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答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：（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）质点在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0-4s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的时间内的位移大小为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5844" name="Rectangle 4"/>
          <p:cNvSpPr/>
          <p:nvPr/>
        </p:nvSpPr>
        <p:spPr>
          <a:xfrm>
            <a:off x="1046163" y="3668713"/>
            <a:ext cx="2898775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）质点的速度为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5846" name="Object 2"/>
          <p:cNvGraphicFramePr/>
          <p:nvPr/>
        </p:nvGraphicFramePr>
        <p:xfrm>
          <a:off x="4662488" y="3594100"/>
          <a:ext cx="221297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" imgW="926465" imgH="393700" progId="Equation.DSMT4">
                  <p:embed/>
                </p:oleObj>
              </mc:Choice>
              <mc:Fallback>
                <p:oleObj name="" r:id="rId1" imgW="926465" imgH="3937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62488" y="3594100"/>
                        <a:ext cx="2212975" cy="703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7"/>
          <p:cNvSpPr txBox="1"/>
          <p:nvPr/>
        </p:nvSpPr>
        <p:spPr>
          <a:xfrm>
            <a:off x="7194550" y="3683000"/>
            <a:ext cx="2751138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p>
            <a:pPr>
              <a:buNone/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令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400" b="1" i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解得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3s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5848" name="Text Box 8"/>
          <p:cNvSpPr txBox="1"/>
          <p:nvPr/>
        </p:nvSpPr>
        <p:spPr>
          <a:xfrm>
            <a:off x="1868488" y="4256088"/>
            <a:ext cx="10202862" cy="493712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>
            <a:spAutoFit/>
          </a:bodyPr>
          <a:p>
            <a:pPr>
              <a:buNone/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即从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=3s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开始，质点沿反方向运动，所以质点的路程为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5849" name="Object 3"/>
          <p:cNvGraphicFramePr/>
          <p:nvPr/>
        </p:nvGraphicFramePr>
        <p:xfrm>
          <a:off x="2544763" y="4832350"/>
          <a:ext cx="518477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3" imgW="1892300" imgH="292100" progId="Equation.DSMT4">
                  <p:embed/>
                </p:oleObj>
              </mc:Choice>
              <mc:Fallback>
                <p:oleObj name="" r:id="rId3" imgW="1892300" imgH="2921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44763" y="4832350"/>
                        <a:ext cx="5184775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4"/>
          <p:cNvGraphicFramePr/>
          <p:nvPr/>
        </p:nvGraphicFramePr>
        <p:xfrm>
          <a:off x="6959600" y="2852738"/>
          <a:ext cx="40052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5" imgW="1473200" imgH="228600" progId="Equation.DSMT4">
                  <p:embed/>
                </p:oleObj>
              </mc:Choice>
              <mc:Fallback>
                <p:oleObj name="" r:id="rId5" imgW="1473200" imgH="2286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9600" y="2852738"/>
                        <a:ext cx="4005263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Object 5"/>
          <p:cNvGraphicFramePr/>
          <p:nvPr/>
        </p:nvGraphicFramePr>
        <p:xfrm>
          <a:off x="2863850" y="5576888"/>
          <a:ext cx="79041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7" imgW="3060700" imgH="279400" progId="Equation.DSMT4">
                  <p:embed/>
                </p:oleObj>
              </mc:Choice>
              <mc:Fallback>
                <p:oleObj name="" r:id="rId7" imgW="3060700" imgH="2794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63850" y="5576888"/>
                        <a:ext cx="7904163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4" name="Object 6"/>
          <p:cNvGraphicFramePr/>
          <p:nvPr/>
        </p:nvGraphicFramePr>
        <p:xfrm>
          <a:off x="431800" y="2838450"/>
          <a:ext cx="64944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9" imgW="2413000" imgH="292100" progId="Equation.DSMT4">
                  <p:embed/>
                </p:oleObj>
              </mc:Choice>
              <mc:Fallback>
                <p:oleObj name="" r:id="rId9" imgW="2413000" imgH="2921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1800" y="2838450"/>
                        <a:ext cx="6494463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8" name="Group 16"/>
          <p:cNvGrpSpPr/>
          <p:nvPr/>
        </p:nvGrpSpPr>
        <p:grpSpPr>
          <a:xfrm>
            <a:off x="487363" y="1285875"/>
            <a:ext cx="11399837" cy="1204913"/>
            <a:chOff x="230" y="92"/>
            <a:chExt cx="5386" cy="759"/>
          </a:xfrm>
        </p:grpSpPr>
        <p:sp>
          <p:nvSpPr>
            <p:cNvPr id="14349" name="Text Box 2"/>
            <p:cNvSpPr txBox="1"/>
            <p:nvPr/>
          </p:nvSpPr>
          <p:spPr>
            <a:xfrm>
              <a:off x="230" y="95"/>
              <a:ext cx="5386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例</a:t>
              </a:r>
              <a:r>
                <a:rPr lang="en-US" altLang="zh-CN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  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一质点的运动方程为</a:t>
              </a:r>
              <a:r>
                <a:rPr lang="en-US" altLang="zh-CN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                (SI)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，则在</a:t>
              </a:r>
              <a:r>
                <a:rPr lang="en-US" altLang="zh-CN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t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由</a:t>
              </a:r>
              <a:r>
                <a: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0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至</a:t>
              </a:r>
              <a:r>
                <a:rPr lang="en-US" altLang="zh-CN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4s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的时间间隔内，质点的位移大小为</a:t>
              </a:r>
              <a:r>
                <a:rPr lang="en-US" altLang="zh-CN" sz="2400" b="1" u="sng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       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，在</a:t>
              </a:r>
              <a:r>
                <a:rPr lang="en-US" altLang="zh-CN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t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由</a:t>
              </a:r>
              <a:r>
                <a: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0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到</a:t>
              </a:r>
              <a:r>
                <a:rPr lang="en-US" altLang="zh-CN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4s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的时间间隔内质点走过的路程为</a:t>
              </a:r>
              <a:r>
                <a:rPr lang="zh-CN" altLang="en-US" sz="2400" b="1" u="sng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     </a:t>
              </a:r>
              <a:r>
                <a:rPr lang="zh-CN" altLang="en-US" sz="2400" b="1" dirty="0">
                  <a:solidFill>
                    <a:schemeClr val="accent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。</a:t>
              </a:r>
              <a:endParaRPr lang="en-US" altLang="zh-CN" sz="24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14343" name="Object 7"/>
            <p:cNvGraphicFramePr/>
            <p:nvPr/>
          </p:nvGraphicFramePr>
          <p:xfrm>
            <a:off x="1901" y="92"/>
            <a:ext cx="97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11" imgW="673100" imgH="203200" progId="Equation.3">
                    <p:embed/>
                  </p:oleObj>
                </mc:Choice>
                <mc:Fallback>
                  <p:oleObj name="" r:id="rId11" imgW="673100" imgH="2032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01" y="92"/>
                          <a:ext cx="979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5847" grpId="0"/>
      <p:bldP spid="35848" grpId="0"/>
    </p:bldLst>
  </p:timing>
</p:sld>
</file>

<file path=ppt/tags/tag1.xml><?xml version="1.0" encoding="utf-8"?>
<p:tagLst xmlns:p="http://schemas.openxmlformats.org/presentationml/2006/main">
  <p:tag name="KSO_WPP_MARK_KEY" val="61bddada-4588-44fe-81de-7c1470a020bf"/>
  <p:tag name="COMMONDATA" val="eyJoZGlkIjoiNDUzYzdkMGJhZWI2MjNhYTQ5MTM3OTUyNzBmYjc5MWMifQ=="/>
  <p:tag name="commondata" val="eyJoZGlkIjoiOGRhMTUwY2RlNTE0ZDMzZmQ3YTAyMDliMWNmMzg4NTI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</a:spPr>
      <a:bodyPr lIns="0" tIns="0" rIns="0" bIns="0">
        <a:spAutoFit/>
      </a:bodyPr>
      <a:lstStyle>
        <a:defPPr algn="ctr">
          <a:defRPr sz="1800" dirty="0">
            <a:solidFill>
              <a:srgbClr val="000000"/>
            </a:solidFill>
            <a:latin typeface="华文中宋" panose="02010600040101010101" pitchFamily="2" charset="-122"/>
            <a:ea typeface="华文中宋" panose="02010600040101010101" pitchFamily="2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1674</Words>
  <Application>WPS 演示</Application>
  <PresentationFormat>自定义</PresentationFormat>
  <Paragraphs>254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113</vt:i4>
      </vt:variant>
      <vt:variant>
        <vt:lpstr>幻灯片标题</vt:lpstr>
      </vt:variant>
      <vt:variant>
        <vt:i4>19</vt:i4>
      </vt:variant>
    </vt:vector>
  </HeadingPairs>
  <TitlesOfParts>
    <vt:vector size="154" baseType="lpstr">
      <vt:lpstr>Arial</vt:lpstr>
      <vt:lpstr>宋体</vt:lpstr>
      <vt:lpstr>Wingdings</vt:lpstr>
      <vt:lpstr>华文中宋</vt:lpstr>
      <vt:lpstr>Times New Roman</vt:lpstr>
      <vt:lpstr>Calibri</vt:lpstr>
      <vt:lpstr>华文楷体</vt:lpstr>
      <vt:lpstr>方正舒体</vt:lpstr>
      <vt:lpstr>微软雅黑</vt:lpstr>
      <vt:lpstr>仿宋</vt:lpstr>
      <vt:lpstr>微软雅黑 Light</vt:lpstr>
      <vt:lpstr>Times New Roman</vt:lpstr>
      <vt:lpstr>Wingdings</vt:lpstr>
      <vt:lpstr>黑体</vt:lpstr>
      <vt:lpstr>Monotype Sorts</vt:lpstr>
      <vt:lpstr>Wingdings</vt:lpstr>
      <vt:lpstr>Symbol</vt:lpstr>
      <vt:lpstr>Wingdings 2</vt:lpstr>
      <vt:lpstr>Arial Unicode MS</vt:lpstr>
      <vt:lpstr>1_自定义设计方案</vt:lpstr>
      <vt:lpstr>2_自定义设计方案</vt:lpstr>
      <vt:lpstr>自定义设计方案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Word.Picture.8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Alex</dc:creator>
  <cp:lastModifiedBy>HEDY</cp:lastModifiedBy>
  <cp:revision>66</cp:revision>
  <dcterms:created xsi:type="dcterms:W3CDTF">2018-02-10T03:00:00Z</dcterms:created>
  <dcterms:modified xsi:type="dcterms:W3CDTF">2024-03-27T10:13:29Z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73B4E52DD7894A4685E4CA31533C1D41</vt:lpwstr>
  </property>
</Properties>
</file>